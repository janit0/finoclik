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9" r:id="rId4"/>
    <p:sldId id="262" r:id="rId5"/>
    <p:sldId id="265" r:id="rId6"/>
    <p:sldId id="268" r:id="rId7"/>
    <p:sldId id="264" r:id="rId8"/>
    <p:sldId id="267" r:id="rId9"/>
    <p:sldId id="270" r:id="rId10"/>
    <p:sldId id="266" r:id="rId11"/>
    <p:sldId id="269"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A6C449-B650-47F1-A394-01AB264AFCEF}">
          <p14:sldIdLst>
            <p14:sldId id="256"/>
            <p14:sldId id="257"/>
            <p14:sldId id="259"/>
            <p14:sldId id="262"/>
            <p14:sldId id="265"/>
            <p14:sldId id="268"/>
            <p14:sldId id="264"/>
            <p14:sldId id="267"/>
            <p14:sldId id="270"/>
            <p14:sldId id="266"/>
            <p14:sldId id="269"/>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6" d="100"/>
          <a:sy n="86" d="100"/>
        </p:scale>
        <p:origin x="33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7A2E74-6303-4A30-9FD6-7A3F25CB4C2D}"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B69339B6-00B5-4555-8B19-0B4F51744D23}">
      <dgm:prSet/>
      <dgm:spPr/>
      <dgm:t>
        <a:bodyPr/>
        <a:lstStyle/>
        <a:p>
          <a:r>
            <a:rPr lang="en-US" dirty="0"/>
            <a:t>Introduction</a:t>
          </a:r>
        </a:p>
      </dgm:t>
    </dgm:pt>
    <dgm:pt modelId="{25C7D223-BA8F-4B2A-AD7B-F28212459FDA}" type="parTrans" cxnId="{C0E08D1C-9474-4F64-8F3A-CD122A4A73DD}">
      <dgm:prSet/>
      <dgm:spPr/>
      <dgm:t>
        <a:bodyPr/>
        <a:lstStyle/>
        <a:p>
          <a:endParaRPr lang="en-US"/>
        </a:p>
      </dgm:t>
    </dgm:pt>
    <dgm:pt modelId="{01A1CD4B-8DC6-46B9-91BB-161021349E27}" type="sibTrans" cxnId="{C0E08D1C-9474-4F64-8F3A-CD122A4A73DD}">
      <dgm:prSet/>
      <dgm:spPr/>
      <dgm:t>
        <a:bodyPr/>
        <a:lstStyle/>
        <a:p>
          <a:endParaRPr lang="en-US"/>
        </a:p>
      </dgm:t>
    </dgm:pt>
    <dgm:pt modelId="{C4440BF5-C91A-4D13-A02C-1656D9C05C94}">
      <dgm:prSet/>
      <dgm:spPr/>
      <dgm:t>
        <a:bodyPr/>
        <a:lstStyle/>
        <a:p>
          <a:r>
            <a:rPr lang="en-US" dirty="0"/>
            <a:t>How FinOclik is useful?</a:t>
          </a:r>
        </a:p>
      </dgm:t>
    </dgm:pt>
    <dgm:pt modelId="{D61ADFF4-E371-4EF9-AABB-F6CB12055689}" type="parTrans" cxnId="{33E57F44-3945-4EAA-BAE2-D2944D9D7913}">
      <dgm:prSet/>
      <dgm:spPr/>
      <dgm:t>
        <a:bodyPr/>
        <a:lstStyle/>
        <a:p>
          <a:endParaRPr lang="en-US"/>
        </a:p>
      </dgm:t>
    </dgm:pt>
    <dgm:pt modelId="{F5636B85-6395-4BDA-A99E-AEC3C2848789}" type="sibTrans" cxnId="{33E57F44-3945-4EAA-BAE2-D2944D9D7913}">
      <dgm:prSet/>
      <dgm:spPr/>
      <dgm:t>
        <a:bodyPr/>
        <a:lstStyle/>
        <a:p>
          <a:endParaRPr lang="en-US"/>
        </a:p>
      </dgm:t>
    </dgm:pt>
    <dgm:pt modelId="{85784ED5-ADDA-4EB3-BDC5-93A19E44377F}">
      <dgm:prSet/>
      <dgm:spPr/>
      <dgm:t>
        <a:bodyPr/>
        <a:lstStyle/>
        <a:p>
          <a:r>
            <a:rPr lang="en-US" dirty="0"/>
            <a:t>Our target customers?</a:t>
          </a:r>
        </a:p>
      </dgm:t>
    </dgm:pt>
    <dgm:pt modelId="{E1C0838B-2D4A-4A2F-9BBD-64C660235E88}" type="parTrans" cxnId="{CC1C4D9E-DA10-4F73-A893-32C3E80B967A}">
      <dgm:prSet/>
      <dgm:spPr/>
      <dgm:t>
        <a:bodyPr/>
        <a:lstStyle/>
        <a:p>
          <a:endParaRPr lang="en-US"/>
        </a:p>
      </dgm:t>
    </dgm:pt>
    <dgm:pt modelId="{86E8A148-42E9-458D-862B-5068B1616299}" type="sibTrans" cxnId="{CC1C4D9E-DA10-4F73-A893-32C3E80B967A}">
      <dgm:prSet/>
      <dgm:spPr/>
      <dgm:t>
        <a:bodyPr/>
        <a:lstStyle/>
        <a:p>
          <a:endParaRPr lang="en-US"/>
        </a:p>
      </dgm:t>
    </dgm:pt>
    <dgm:pt modelId="{F31C22E8-42D4-404F-8267-7E2FDDC19FAF}">
      <dgm:prSet phldr="0"/>
      <dgm:spPr/>
      <dgm:t>
        <a:bodyPr/>
        <a:lstStyle/>
        <a:p>
          <a:r>
            <a:rPr lang="en-US" dirty="0">
              <a:latin typeface="Century Gothic" panose="020B0502020202020204"/>
            </a:rPr>
            <a:t>References</a:t>
          </a:r>
          <a:endParaRPr lang="en-US" dirty="0"/>
        </a:p>
      </dgm:t>
    </dgm:pt>
    <dgm:pt modelId="{976F07B3-4672-4A00-B857-C757E0CB9B68}" type="parTrans" cxnId="{6932F373-938D-4166-8CAE-C05B3AF8777F}">
      <dgm:prSet/>
      <dgm:spPr/>
      <dgm:t>
        <a:bodyPr/>
        <a:lstStyle/>
        <a:p>
          <a:endParaRPr lang="en-US"/>
        </a:p>
      </dgm:t>
    </dgm:pt>
    <dgm:pt modelId="{A4067255-C81D-4FFD-B1A9-A354BD42299E}" type="sibTrans" cxnId="{6932F373-938D-4166-8CAE-C05B3AF8777F}">
      <dgm:prSet/>
      <dgm:spPr/>
      <dgm:t>
        <a:bodyPr/>
        <a:lstStyle/>
        <a:p>
          <a:endParaRPr lang="en-US"/>
        </a:p>
      </dgm:t>
    </dgm:pt>
    <dgm:pt modelId="{89C7D74B-691F-4C31-8D37-FE801E8EA645}">
      <dgm:prSet/>
      <dgm:spPr/>
      <dgm:t>
        <a:bodyPr/>
        <a:lstStyle/>
        <a:p>
          <a:r>
            <a:rPr lang="en-US" dirty="0"/>
            <a:t>Summary </a:t>
          </a:r>
        </a:p>
      </dgm:t>
    </dgm:pt>
    <dgm:pt modelId="{8695305F-2B5E-47CD-B49F-E18433950232}" type="parTrans" cxnId="{406CF249-30DC-4BAA-8CE9-CD57047BC349}">
      <dgm:prSet/>
      <dgm:spPr/>
      <dgm:t>
        <a:bodyPr/>
        <a:lstStyle/>
        <a:p>
          <a:endParaRPr lang="en-US"/>
        </a:p>
      </dgm:t>
    </dgm:pt>
    <dgm:pt modelId="{16D5C1FB-DF12-4110-AE92-2C225B21E2C9}" type="sibTrans" cxnId="{406CF249-30DC-4BAA-8CE9-CD57047BC349}">
      <dgm:prSet/>
      <dgm:spPr/>
      <dgm:t>
        <a:bodyPr/>
        <a:lstStyle/>
        <a:p>
          <a:endParaRPr lang="en-US"/>
        </a:p>
      </dgm:t>
    </dgm:pt>
    <dgm:pt modelId="{B0CFA9CB-4B5B-4C64-AED9-B060C454D6F2}">
      <dgm:prSet phldr="0"/>
      <dgm:spPr/>
      <dgm:t>
        <a:bodyPr/>
        <a:lstStyle/>
        <a:p>
          <a:pPr rtl="0"/>
          <a:r>
            <a:rPr lang="en-US" dirty="0">
              <a:latin typeface="Century Gothic" panose="020B0502020202020204"/>
            </a:rPr>
            <a:t>Demo </a:t>
          </a:r>
        </a:p>
      </dgm:t>
    </dgm:pt>
    <dgm:pt modelId="{3760A296-CA9A-4E50-A554-FAA6FE80B2C8}" type="parTrans" cxnId="{0C551189-543B-40BD-915F-7E4FE175A087}">
      <dgm:prSet/>
      <dgm:spPr/>
    </dgm:pt>
    <dgm:pt modelId="{5AF10AB8-D372-4961-A4F4-8ABE4D260A18}" type="sibTrans" cxnId="{0C551189-543B-40BD-915F-7E4FE175A087}">
      <dgm:prSet/>
      <dgm:spPr/>
      <dgm:t>
        <a:bodyPr/>
        <a:lstStyle/>
        <a:p>
          <a:endParaRPr lang="en-US"/>
        </a:p>
      </dgm:t>
    </dgm:pt>
    <dgm:pt modelId="{CBE4BB23-77E5-413E-A815-6169CDE64F18}">
      <dgm:prSet phldr="0"/>
      <dgm:spPr/>
      <dgm:t>
        <a:bodyPr/>
        <a:lstStyle/>
        <a:p>
          <a:r>
            <a:rPr lang="en-US" dirty="0">
              <a:latin typeface="Century Gothic" panose="020B0502020202020204"/>
            </a:rPr>
            <a:t>Q&amp;A</a:t>
          </a:r>
        </a:p>
      </dgm:t>
    </dgm:pt>
    <dgm:pt modelId="{7CA80E5B-8086-4CBB-BF31-EDFCD180F4EC}" type="parTrans" cxnId="{31C0F529-AAFB-4D62-A6A1-EFB66528CAD4}">
      <dgm:prSet/>
      <dgm:spPr/>
    </dgm:pt>
    <dgm:pt modelId="{5EBE97C9-C978-4D47-B70E-7DBD851A02A6}" type="sibTrans" cxnId="{31C0F529-AAFB-4D62-A6A1-EFB66528CAD4}">
      <dgm:prSet/>
      <dgm:spPr/>
    </dgm:pt>
    <dgm:pt modelId="{3E6D7857-E364-438A-AB3C-ACE29482D055}" type="pres">
      <dgm:prSet presAssocID="{D37A2E74-6303-4A30-9FD6-7A3F25CB4C2D}" presName="Name0" presStyleCnt="0">
        <dgm:presLayoutVars>
          <dgm:dir/>
          <dgm:resizeHandles val="exact"/>
        </dgm:presLayoutVars>
      </dgm:prSet>
      <dgm:spPr/>
    </dgm:pt>
    <dgm:pt modelId="{44F64D7A-BBCF-4BF5-B435-30C13E305588}" type="pres">
      <dgm:prSet presAssocID="{B69339B6-00B5-4555-8B19-0B4F51744D23}" presName="node" presStyleLbl="node1" presStyleIdx="0" presStyleCnt="7">
        <dgm:presLayoutVars>
          <dgm:bulletEnabled val="1"/>
        </dgm:presLayoutVars>
      </dgm:prSet>
      <dgm:spPr/>
    </dgm:pt>
    <dgm:pt modelId="{20EB3376-6AF0-4EC4-920A-7DA257B8D580}" type="pres">
      <dgm:prSet presAssocID="{01A1CD4B-8DC6-46B9-91BB-161021349E27}" presName="sibTrans" presStyleLbl="sibTrans1D1" presStyleIdx="0" presStyleCnt="6"/>
      <dgm:spPr/>
    </dgm:pt>
    <dgm:pt modelId="{C2C5FB71-19D4-483C-85B4-AFAD151EEB1C}" type="pres">
      <dgm:prSet presAssocID="{01A1CD4B-8DC6-46B9-91BB-161021349E27}" presName="connectorText" presStyleLbl="sibTrans1D1" presStyleIdx="0" presStyleCnt="6"/>
      <dgm:spPr/>
    </dgm:pt>
    <dgm:pt modelId="{102E727F-D7B9-4AB7-9A47-2248A843C1DD}" type="pres">
      <dgm:prSet presAssocID="{C4440BF5-C91A-4D13-A02C-1656D9C05C94}" presName="node" presStyleLbl="node1" presStyleIdx="1" presStyleCnt="7">
        <dgm:presLayoutVars>
          <dgm:bulletEnabled val="1"/>
        </dgm:presLayoutVars>
      </dgm:prSet>
      <dgm:spPr/>
    </dgm:pt>
    <dgm:pt modelId="{D8C70E68-9222-4044-9BCE-B74ED1CDD7BD}" type="pres">
      <dgm:prSet presAssocID="{F5636B85-6395-4BDA-A99E-AEC3C2848789}" presName="sibTrans" presStyleLbl="sibTrans1D1" presStyleIdx="1" presStyleCnt="6"/>
      <dgm:spPr/>
    </dgm:pt>
    <dgm:pt modelId="{C3DBD5E5-8A5D-4DD8-A2F8-DA28578AFE2F}" type="pres">
      <dgm:prSet presAssocID="{F5636B85-6395-4BDA-A99E-AEC3C2848789}" presName="connectorText" presStyleLbl="sibTrans1D1" presStyleIdx="1" presStyleCnt="6"/>
      <dgm:spPr/>
    </dgm:pt>
    <dgm:pt modelId="{A74F4EB1-187B-4EAE-B987-ECB23FE67491}" type="pres">
      <dgm:prSet presAssocID="{85784ED5-ADDA-4EB3-BDC5-93A19E44377F}" presName="node" presStyleLbl="node1" presStyleIdx="2" presStyleCnt="7">
        <dgm:presLayoutVars>
          <dgm:bulletEnabled val="1"/>
        </dgm:presLayoutVars>
      </dgm:prSet>
      <dgm:spPr/>
    </dgm:pt>
    <dgm:pt modelId="{4E63605C-9ECA-47FF-94CF-4189385E9A05}" type="pres">
      <dgm:prSet presAssocID="{86E8A148-42E9-458D-862B-5068B1616299}" presName="sibTrans" presStyleLbl="sibTrans1D1" presStyleIdx="2" presStyleCnt="6"/>
      <dgm:spPr/>
    </dgm:pt>
    <dgm:pt modelId="{F6E3222F-9E08-4DB6-BC5A-B6C316F6F068}" type="pres">
      <dgm:prSet presAssocID="{86E8A148-42E9-458D-862B-5068B1616299}" presName="connectorText" presStyleLbl="sibTrans1D1" presStyleIdx="2" presStyleCnt="6"/>
      <dgm:spPr/>
    </dgm:pt>
    <dgm:pt modelId="{AACBD7D2-FF73-4EC1-975A-C8C1013F3672}" type="pres">
      <dgm:prSet presAssocID="{F31C22E8-42D4-404F-8267-7E2FDDC19FAF}" presName="node" presStyleLbl="node1" presStyleIdx="3" presStyleCnt="7">
        <dgm:presLayoutVars>
          <dgm:bulletEnabled val="1"/>
        </dgm:presLayoutVars>
      </dgm:prSet>
      <dgm:spPr/>
    </dgm:pt>
    <dgm:pt modelId="{3AAF1725-697D-46EC-8542-9317F9331083}" type="pres">
      <dgm:prSet presAssocID="{A4067255-C81D-4FFD-B1A9-A354BD42299E}" presName="sibTrans" presStyleLbl="sibTrans1D1" presStyleIdx="3" presStyleCnt="6"/>
      <dgm:spPr/>
    </dgm:pt>
    <dgm:pt modelId="{D519CBC1-9607-4EA2-9C14-29588F93A15E}" type="pres">
      <dgm:prSet presAssocID="{A4067255-C81D-4FFD-B1A9-A354BD42299E}" presName="connectorText" presStyleLbl="sibTrans1D1" presStyleIdx="3" presStyleCnt="6"/>
      <dgm:spPr/>
    </dgm:pt>
    <dgm:pt modelId="{39553D29-455A-44EE-BEEE-D5E11E7AC17B}" type="pres">
      <dgm:prSet presAssocID="{89C7D74B-691F-4C31-8D37-FE801E8EA645}" presName="node" presStyleLbl="node1" presStyleIdx="4" presStyleCnt="7">
        <dgm:presLayoutVars>
          <dgm:bulletEnabled val="1"/>
        </dgm:presLayoutVars>
      </dgm:prSet>
      <dgm:spPr/>
    </dgm:pt>
    <dgm:pt modelId="{4BC50E06-E90A-4E1E-A96E-EE8D4D8F10FF}" type="pres">
      <dgm:prSet presAssocID="{16D5C1FB-DF12-4110-AE92-2C225B21E2C9}" presName="sibTrans" presStyleLbl="sibTrans1D1" presStyleIdx="4" presStyleCnt="6"/>
      <dgm:spPr/>
    </dgm:pt>
    <dgm:pt modelId="{212E5A0C-4FA6-418E-A73E-EE11962FEFC1}" type="pres">
      <dgm:prSet presAssocID="{16D5C1FB-DF12-4110-AE92-2C225B21E2C9}" presName="connectorText" presStyleLbl="sibTrans1D1" presStyleIdx="4" presStyleCnt="6"/>
      <dgm:spPr/>
    </dgm:pt>
    <dgm:pt modelId="{267E0077-5017-40C8-AB1E-69282C8E7F33}" type="pres">
      <dgm:prSet presAssocID="{B0CFA9CB-4B5B-4C64-AED9-B060C454D6F2}" presName="node" presStyleLbl="node1" presStyleIdx="5" presStyleCnt="7">
        <dgm:presLayoutVars>
          <dgm:bulletEnabled val="1"/>
        </dgm:presLayoutVars>
      </dgm:prSet>
      <dgm:spPr/>
    </dgm:pt>
    <dgm:pt modelId="{510FE0E9-6635-4872-BEEA-48791AA2F303}" type="pres">
      <dgm:prSet presAssocID="{5AF10AB8-D372-4961-A4F4-8ABE4D260A18}" presName="sibTrans" presStyleLbl="sibTrans1D1" presStyleIdx="5" presStyleCnt="6"/>
      <dgm:spPr/>
    </dgm:pt>
    <dgm:pt modelId="{B2BFF644-2D71-4AB8-B408-9FFDA55CA4D5}" type="pres">
      <dgm:prSet presAssocID="{5AF10AB8-D372-4961-A4F4-8ABE4D260A18}" presName="connectorText" presStyleLbl="sibTrans1D1" presStyleIdx="5" presStyleCnt="6"/>
      <dgm:spPr/>
    </dgm:pt>
    <dgm:pt modelId="{D127C563-3A49-4FD9-B8A3-AB979F7CB81B}" type="pres">
      <dgm:prSet presAssocID="{CBE4BB23-77E5-413E-A815-6169CDE64F18}" presName="node" presStyleLbl="node1" presStyleIdx="6" presStyleCnt="7">
        <dgm:presLayoutVars>
          <dgm:bulletEnabled val="1"/>
        </dgm:presLayoutVars>
      </dgm:prSet>
      <dgm:spPr/>
    </dgm:pt>
  </dgm:ptLst>
  <dgm:cxnLst>
    <dgm:cxn modelId="{B0D13003-859D-4E6E-87E1-99B16A8053A5}" type="presOf" srcId="{A4067255-C81D-4FFD-B1A9-A354BD42299E}" destId="{3AAF1725-697D-46EC-8542-9317F9331083}" srcOrd="0" destOrd="0" presId="urn:microsoft.com/office/officeart/2016/7/layout/RepeatingBendingProcessNew"/>
    <dgm:cxn modelId="{E68F8416-2A0E-4C41-8945-7A5B60868A51}" type="presOf" srcId="{86E8A148-42E9-458D-862B-5068B1616299}" destId="{F6E3222F-9E08-4DB6-BC5A-B6C316F6F068}" srcOrd="1" destOrd="0" presId="urn:microsoft.com/office/officeart/2016/7/layout/RepeatingBendingProcessNew"/>
    <dgm:cxn modelId="{C0E08D1C-9474-4F64-8F3A-CD122A4A73DD}" srcId="{D37A2E74-6303-4A30-9FD6-7A3F25CB4C2D}" destId="{B69339B6-00B5-4555-8B19-0B4F51744D23}" srcOrd="0" destOrd="0" parTransId="{25C7D223-BA8F-4B2A-AD7B-F28212459FDA}" sibTransId="{01A1CD4B-8DC6-46B9-91BB-161021349E27}"/>
    <dgm:cxn modelId="{31C0F529-AAFB-4D62-A6A1-EFB66528CAD4}" srcId="{D37A2E74-6303-4A30-9FD6-7A3F25CB4C2D}" destId="{CBE4BB23-77E5-413E-A815-6169CDE64F18}" srcOrd="6" destOrd="0" parTransId="{7CA80E5B-8086-4CBB-BF31-EDFCD180F4EC}" sibTransId="{5EBE97C9-C978-4D47-B70E-7DBD851A02A6}"/>
    <dgm:cxn modelId="{33E57F44-3945-4EAA-BAE2-D2944D9D7913}" srcId="{D37A2E74-6303-4A30-9FD6-7A3F25CB4C2D}" destId="{C4440BF5-C91A-4D13-A02C-1656D9C05C94}" srcOrd="1" destOrd="0" parTransId="{D61ADFF4-E371-4EF9-AABB-F6CB12055689}" sibTransId="{F5636B85-6395-4BDA-A99E-AEC3C2848789}"/>
    <dgm:cxn modelId="{406CF249-30DC-4BAA-8CE9-CD57047BC349}" srcId="{D37A2E74-6303-4A30-9FD6-7A3F25CB4C2D}" destId="{89C7D74B-691F-4C31-8D37-FE801E8EA645}" srcOrd="4" destOrd="0" parTransId="{8695305F-2B5E-47CD-B49F-E18433950232}" sibTransId="{16D5C1FB-DF12-4110-AE92-2C225B21E2C9}"/>
    <dgm:cxn modelId="{E5776A4F-9461-450D-A7AC-532F7BD4146A}" type="presOf" srcId="{01A1CD4B-8DC6-46B9-91BB-161021349E27}" destId="{20EB3376-6AF0-4EC4-920A-7DA257B8D580}" srcOrd="0" destOrd="0" presId="urn:microsoft.com/office/officeart/2016/7/layout/RepeatingBendingProcessNew"/>
    <dgm:cxn modelId="{A5C14452-18EB-4CF2-9B45-E05EBD57795A}" type="presOf" srcId="{CBE4BB23-77E5-413E-A815-6169CDE64F18}" destId="{D127C563-3A49-4FD9-B8A3-AB979F7CB81B}" srcOrd="0" destOrd="0" presId="urn:microsoft.com/office/officeart/2016/7/layout/RepeatingBendingProcessNew"/>
    <dgm:cxn modelId="{DFB8F552-0EB2-4EA7-A9F0-2BE5FC218BF5}" type="presOf" srcId="{5AF10AB8-D372-4961-A4F4-8ABE4D260A18}" destId="{B2BFF644-2D71-4AB8-B408-9FFDA55CA4D5}" srcOrd="1" destOrd="0" presId="urn:microsoft.com/office/officeart/2016/7/layout/RepeatingBendingProcessNew"/>
    <dgm:cxn modelId="{6932F373-938D-4166-8CAE-C05B3AF8777F}" srcId="{D37A2E74-6303-4A30-9FD6-7A3F25CB4C2D}" destId="{F31C22E8-42D4-404F-8267-7E2FDDC19FAF}" srcOrd="3" destOrd="0" parTransId="{976F07B3-4672-4A00-B857-C757E0CB9B68}" sibTransId="{A4067255-C81D-4FFD-B1A9-A354BD42299E}"/>
    <dgm:cxn modelId="{4361E57B-F6E7-4018-B541-59A09E90F720}" type="presOf" srcId="{F5636B85-6395-4BDA-A99E-AEC3C2848789}" destId="{C3DBD5E5-8A5D-4DD8-A2F8-DA28578AFE2F}" srcOrd="1" destOrd="0" presId="urn:microsoft.com/office/officeart/2016/7/layout/RepeatingBendingProcessNew"/>
    <dgm:cxn modelId="{7B086180-2937-4F06-B777-9A6738C1D17C}" type="presOf" srcId="{5AF10AB8-D372-4961-A4F4-8ABE4D260A18}" destId="{510FE0E9-6635-4872-BEEA-48791AA2F303}" srcOrd="0" destOrd="0" presId="urn:microsoft.com/office/officeart/2016/7/layout/RepeatingBendingProcessNew"/>
    <dgm:cxn modelId="{90094E81-3765-4E5D-87A3-FE4FCCA49DFA}" type="presOf" srcId="{D37A2E74-6303-4A30-9FD6-7A3F25CB4C2D}" destId="{3E6D7857-E364-438A-AB3C-ACE29482D055}" srcOrd="0" destOrd="0" presId="urn:microsoft.com/office/officeart/2016/7/layout/RepeatingBendingProcessNew"/>
    <dgm:cxn modelId="{0C551189-543B-40BD-915F-7E4FE175A087}" srcId="{D37A2E74-6303-4A30-9FD6-7A3F25CB4C2D}" destId="{B0CFA9CB-4B5B-4C64-AED9-B060C454D6F2}" srcOrd="5" destOrd="0" parTransId="{3760A296-CA9A-4E50-A554-FAA6FE80B2C8}" sibTransId="{5AF10AB8-D372-4961-A4F4-8ABE4D260A18}"/>
    <dgm:cxn modelId="{CC1C4D9E-DA10-4F73-A893-32C3E80B967A}" srcId="{D37A2E74-6303-4A30-9FD6-7A3F25CB4C2D}" destId="{85784ED5-ADDA-4EB3-BDC5-93A19E44377F}" srcOrd="2" destOrd="0" parTransId="{E1C0838B-2D4A-4A2F-9BBD-64C660235E88}" sibTransId="{86E8A148-42E9-458D-862B-5068B1616299}"/>
    <dgm:cxn modelId="{44960DA0-4B86-44A5-B936-7E8DAB800D25}" type="presOf" srcId="{86E8A148-42E9-458D-862B-5068B1616299}" destId="{4E63605C-9ECA-47FF-94CF-4189385E9A05}" srcOrd="0" destOrd="0" presId="urn:microsoft.com/office/officeart/2016/7/layout/RepeatingBendingProcessNew"/>
    <dgm:cxn modelId="{2A1F91A5-266F-437B-AB3A-A13AFB7ADB58}" type="presOf" srcId="{F31C22E8-42D4-404F-8267-7E2FDDC19FAF}" destId="{AACBD7D2-FF73-4EC1-975A-C8C1013F3672}" srcOrd="0" destOrd="0" presId="urn:microsoft.com/office/officeart/2016/7/layout/RepeatingBendingProcessNew"/>
    <dgm:cxn modelId="{E8F270B9-39B9-44DE-920D-C8478F902493}" type="presOf" srcId="{F5636B85-6395-4BDA-A99E-AEC3C2848789}" destId="{D8C70E68-9222-4044-9BCE-B74ED1CDD7BD}" srcOrd="0" destOrd="0" presId="urn:microsoft.com/office/officeart/2016/7/layout/RepeatingBendingProcessNew"/>
    <dgm:cxn modelId="{C3BC86C3-AB39-4988-9A4F-6C80D8A97657}" type="presOf" srcId="{A4067255-C81D-4FFD-B1A9-A354BD42299E}" destId="{D519CBC1-9607-4EA2-9C14-29588F93A15E}" srcOrd="1" destOrd="0" presId="urn:microsoft.com/office/officeart/2016/7/layout/RepeatingBendingProcessNew"/>
    <dgm:cxn modelId="{F715CFC5-FAF8-4A84-A868-9928DB791E56}" type="presOf" srcId="{89C7D74B-691F-4C31-8D37-FE801E8EA645}" destId="{39553D29-455A-44EE-BEEE-D5E11E7AC17B}" srcOrd="0" destOrd="0" presId="urn:microsoft.com/office/officeart/2016/7/layout/RepeatingBendingProcessNew"/>
    <dgm:cxn modelId="{97ED73CF-E182-43B2-B482-5BCA07756FAD}" type="presOf" srcId="{B69339B6-00B5-4555-8B19-0B4F51744D23}" destId="{44F64D7A-BBCF-4BF5-B435-30C13E305588}" srcOrd="0" destOrd="0" presId="urn:microsoft.com/office/officeart/2016/7/layout/RepeatingBendingProcessNew"/>
    <dgm:cxn modelId="{FA305AD2-613E-43D5-B3AC-6808E67E4C9C}" type="presOf" srcId="{C4440BF5-C91A-4D13-A02C-1656D9C05C94}" destId="{102E727F-D7B9-4AB7-9A47-2248A843C1DD}" srcOrd="0" destOrd="0" presId="urn:microsoft.com/office/officeart/2016/7/layout/RepeatingBendingProcessNew"/>
    <dgm:cxn modelId="{C5BAD3D7-67FA-42CA-A481-868969004847}" type="presOf" srcId="{01A1CD4B-8DC6-46B9-91BB-161021349E27}" destId="{C2C5FB71-19D4-483C-85B4-AFAD151EEB1C}" srcOrd="1" destOrd="0" presId="urn:microsoft.com/office/officeart/2016/7/layout/RepeatingBendingProcessNew"/>
    <dgm:cxn modelId="{CE7861DD-BA0A-4D08-BDF0-64ED419C1A61}" type="presOf" srcId="{16D5C1FB-DF12-4110-AE92-2C225B21E2C9}" destId="{212E5A0C-4FA6-418E-A73E-EE11962FEFC1}" srcOrd="1" destOrd="0" presId="urn:microsoft.com/office/officeart/2016/7/layout/RepeatingBendingProcessNew"/>
    <dgm:cxn modelId="{2341B8F2-5D1A-4A2A-BBD6-42A10157C229}" type="presOf" srcId="{B0CFA9CB-4B5B-4C64-AED9-B060C454D6F2}" destId="{267E0077-5017-40C8-AB1E-69282C8E7F33}" srcOrd="0" destOrd="0" presId="urn:microsoft.com/office/officeart/2016/7/layout/RepeatingBendingProcessNew"/>
    <dgm:cxn modelId="{11DA87FE-73B2-4D5D-9712-8D2635024E65}" type="presOf" srcId="{85784ED5-ADDA-4EB3-BDC5-93A19E44377F}" destId="{A74F4EB1-187B-4EAE-B987-ECB23FE67491}" srcOrd="0" destOrd="0" presId="urn:microsoft.com/office/officeart/2016/7/layout/RepeatingBendingProcessNew"/>
    <dgm:cxn modelId="{F27CB4FF-DAAF-4149-8EE1-8986A15F3EA7}" type="presOf" srcId="{16D5C1FB-DF12-4110-AE92-2C225B21E2C9}" destId="{4BC50E06-E90A-4E1E-A96E-EE8D4D8F10FF}" srcOrd="0" destOrd="0" presId="urn:microsoft.com/office/officeart/2016/7/layout/RepeatingBendingProcessNew"/>
    <dgm:cxn modelId="{BB2F4D03-51FB-4660-B560-E0034D8410FB}" type="presParOf" srcId="{3E6D7857-E364-438A-AB3C-ACE29482D055}" destId="{44F64D7A-BBCF-4BF5-B435-30C13E305588}" srcOrd="0" destOrd="0" presId="urn:microsoft.com/office/officeart/2016/7/layout/RepeatingBendingProcessNew"/>
    <dgm:cxn modelId="{27399761-3CF7-4126-9506-9B8EFF1DBD34}" type="presParOf" srcId="{3E6D7857-E364-438A-AB3C-ACE29482D055}" destId="{20EB3376-6AF0-4EC4-920A-7DA257B8D580}" srcOrd="1" destOrd="0" presId="urn:microsoft.com/office/officeart/2016/7/layout/RepeatingBendingProcessNew"/>
    <dgm:cxn modelId="{8ACE8B22-9A5D-4031-B7BA-A35308FD66D5}" type="presParOf" srcId="{20EB3376-6AF0-4EC4-920A-7DA257B8D580}" destId="{C2C5FB71-19D4-483C-85B4-AFAD151EEB1C}" srcOrd="0" destOrd="0" presId="urn:microsoft.com/office/officeart/2016/7/layout/RepeatingBendingProcessNew"/>
    <dgm:cxn modelId="{9016DC2A-52BF-4B10-96E8-8EA01AD5E6EE}" type="presParOf" srcId="{3E6D7857-E364-438A-AB3C-ACE29482D055}" destId="{102E727F-D7B9-4AB7-9A47-2248A843C1DD}" srcOrd="2" destOrd="0" presId="urn:microsoft.com/office/officeart/2016/7/layout/RepeatingBendingProcessNew"/>
    <dgm:cxn modelId="{FC5B4E04-DFF1-4024-9222-D4DBCD7D355E}" type="presParOf" srcId="{3E6D7857-E364-438A-AB3C-ACE29482D055}" destId="{D8C70E68-9222-4044-9BCE-B74ED1CDD7BD}" srcOrd="3" destOrd="0" presId="urn:microsoft.com/office/officeart/2016/7/layout/RepeatingBendingProcessNew"/>
    <dgm:cxn modelId="{B35ACD32-BFBB-49FF-A935-341B0528B277}" type="presParOf" srcId="{D8C70E68-9222-4044-9BCE-B74ED1CDD7BD}" destId="{C3DBD5E5-8A5D-4DD8-A2F8-DA28578AFE2F}" srcOrd="0" destOrd="0" presId="urn:microsoft.com/office/officeart/2016/7/layout/RepeatingBendingProcessNew"/>
    <dgm:cxn modelId="{62BEE2A4-B235-4215-A20E-C68C84AA01EC}" type="presParOf" srcId="{3E6D7857-E364-438A-AB3C-ACE29482D055}" destId="{A74F4EB1-187B-4EAE-B987-ECB23FE67491}" srcOrd="4" destOrd="0" presId="urn:microsoft.com/office/officeart/2016/7/layout/RepeatingBendingProcessNew"/>
    <dgm:cxn modelId="{87034043-6E9D-4C32-9110-7772487F1A3E}" type="presParOf" srcId="{3E6D7857-E364-438A-AB3C-ACE29482D055}" destId="{4E63605C-9ECA-47FF-94CF-4189385E9A05}" srcOrd="5" destOrd="0" presId="urn:microsoft.com/office/officeart/2016/7/layout/RepeatingBendingProcessNew"/>
    <dgm:cxn modelId="{9B4D584B-60F4-4562-B700-57DCC67188D3}" type="presParOf" srcId="{4E63605C-9ECA-47FF-94CF-4189385E9A05}" destId="{F6E3222F-9E08-4DB6-BC5A-B6C316F6F068}" srcOrd="0" destOrd="0" presId="urn:microsoft.com/office/officeart/2016/7/layout/RepeatingBendingProcessNew"/>
    <dgm:cxn modelId="{509D56A7-B8D1-45F0-8D91-6C395F80E3DC}" type="presParOf" srcId="{3E6D7857-E364-438A-AB3C-ACE29482D055}" destId="{AACBD7D2-FF73-4EC1-975A-C8C1013F3672}" srcOrd="6" destOrd="0" presId="urn:microsoft.com/office/officeart/2016/7/layout/RepeatingBendingProcessNew"/>
    <dgm:cxn modelId="{DD775BE7-36B4-454F-925D-C4BBB8636055}" type="presParOf" srcId="{3E6D7857-E364-438A-AB3C-ACE29482D055}" destId="{3AAF1725-697D-46EC-8542-9317F9331083}" srcOrd="7" destOrd="0" presId="urn:microsoft.com/office/officeart/2016/7/layout/RepeatingBendingProcessNew"/>
    <dgm:cxn modelId="{F3E09BEC-D37A-4DCE-A192-0EA73918192A}" type="presParOf" srcId="{3AAF1725-697D-46EC-8542-9317F9331083}" destId="{D519CBC1-9607-4EA2-9C14-29588F93A15E}" srcOrd="0" destOrd="0" presId="urn:microsoft.com/office/officeart/2016/7/layout/RepeatingBendingProcessNew"/>
    <dgm:cxn modelId="{808C8D49-425C-49D9-9C3F-83364D039FD5}" type="presParOf" srcId="{3E6D7857-E364-438A-AB3C-ACE29482D055}" destId="{39553D29-455A-44EE-BEEE-D5E11E7AC17B}" srcOrd="8" destOrd="0" presId="urn:microsoft.com/office/officeart/2016/7/layout/RepeatingBendingProcessNew"/>
    <dgm:cxn modelId="{7D0168E5-6940-42BF-99B0-9C7CED8F38B3}" type="presParOf" srcId="{3E6D7857-E364-438A-AB3C-ACE29482D055}" destId="{4BC50E06-E90A-4E1E-A96E-EE8D4D8F10FF}" srcOrd="9" destOrd="0" presId="urn:microsoft.com/office/officeart/2016/7/layout/RepeatingBendingProcessNew"/>
    <dgm:cxn modelId="{D530D9DF-04DD-496A-9369-699D556C8529}" type="presParOf" srcId="{4BC50E06-E90A-4E1E-A96E-EE8D4D8F10FF}" destId="{212E5A0C-4FA6-418E-A73E-EE11962FEFC1}" srcOrd="0" destOrd="0" presId="urn:microsoft.com/office/officeart/2016/7/layout/RepeatingBendingProcessNew"/>
    <dgm:cxn modelId="{E07B94D8-91DE-41EF-97D0-C4525392403E}" type="presParOf" srcId="{3E6D7857-E364-438A-AB3C-ACE29482D055}" destId="{267E0077-5017-40C8-AB1E-69282C8E7F33}" srcOrd="10" destOrd="0" presId="urn:microsoft.com/office/officeart/2016/7/layout/RepeatingBendingProcessNew"/>
    <dgm:cxn modelId="{834A2161-CBE1-4329-9DAF-75AA0762B543}" type="presParOf" srcId="{3E6D7857-E364-438A-AB3C-ACE29482D055}" destId="{510FE0E9-6635-4872-BEEA-48791AA2F303}" srcOrd="11" destOrd="0" presId="urn:microsoft.com/office/officeart/2016/7/layout/RepeatingBendingProcessNew"/>
    <dgm:cxn modelId="{E16CBE44-433B-4BE1-93A9-4A95EA3E59B9}" type="presParOf" srcId="{510FE0E9-6635-4872-BEEA-48791AA2F303}" destId="{B2BFF644-2D71-4AB8-B408-9FFDA55CA4D5}" srcOrd="0" destOrd="0" presId="urn:microsoft.com/office/officeart/2016/7/layout/RepeatingBendingProcessNew"/>
    <dgm:cxn modelId="{9ED66317-CD0D-4AB4-A6B2-3FAB809CE85D}" type="presParOf" srcId="{3E6D7857-E364-438A-AB3C-ACE29482D055}" destId="{D127C563-3A49-4FD9-B8A3-AB979F7CB81B}"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21E329-0352-4EF7-B81F-F7370CD38B3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8671F0B-EDE0-4C1E-8249-4A12DAC90A08}">
      <dgm:prSet/>
      <dgm:spPr/>
      <dgm:t>
        <a:bodyPr/>
        <a:lstStyle/>
        <a:p>
          <a:pPr>
            <a:lnSpc>
              <a:spcPct val="100000"/>
            </a:lnSpc>
          </a:pPr>
          <a:r>
            <a:rPr lang="en-US" b="1" i="0" dirty="0"/>
            <a:t>Increasing knowledge of investment and how it can impact your life for good.</a:t>
          </a:r>
          <a:endParaRPr lang="en-US" b="1" dirty="0"/>
        </a:p>
      </dgm:t>
    </dgm:pt>
    <dgm:pt modelId="{91177FF5-579D-4782-AB01-26505C58EC05}" type="parTrans" cxnId="{91FD8E68-8DA4-4F50-84DE-CB1DC7B74E94}">
      <dgm:prSet/>
      <dgm:spPr/>
      <dgm:t>
        <a:bodyPr/>
        <a:lstStyle/>
        <a:p>
          <a:endParaRPr lang="en-US"/>
        </a:p>
      </dgm:t>
    </dgm:pt>
    <dgm:pt modelId="{54F90253-5C12-41F9-8FF5-3369D968B0D4}" type="sibTrans" cxnId="{91FD8E68-8DA4-4F50-84DE-CB1DC7B74E94}">
      <dgm:prSet/>
      <dgm:spPr/>
      <dgm:t>
        <a:bodyPr/>
        <a:lstStyle/>
        <a:p>
          <a:endParaRPr lang="en-US"/>
        </a:p>
      </dgm:t>
    </dgm:pt>
    <dgm:pt modelId="{5E0B933C-B29A-4C5C-8718-305003D9EAC3}">
      <dgm:prSet/>
      <dgm:spPr/>
      <dgm:t>
        <a:bodyPr/>
        <a:lstStyle/>
        <a:p>
          <a:pPr>
            <a:lnSpc>
              <a:spcPct val="100000"/>
            </a:lnSpc>
          </a:pPr>
          <a:r>
            <a:rPr lang="en-US" b="1" i="0" dirty="0"/>
            <a:t>Enabling accessibility to get answers for any financial queries on a click of a button.</a:t>
          </a:r>
          <a:endParaRPr lang="en-US" b="1" dirty="0"/>
        </a:p>
      </dgm:t>
    </dgm:pt>
    <dgm:pt modelId="{BF67698C-7EBE-4DAD-A634-1101EDE71DEB}" type="parTrans" cxnId="{B856F5B4-C803-4113-94B6-4160739E576F}">
      <dgm:prSet/>
      <dgm:spPr/>
      <dgm:t>
        <a:bodyPr/>
        <a:lstStyle/>
        <a:p>
          <a:endParaRPr lang="en-US"/>
        </a:p>
      </dgm:t>
    </dgm:pt>
    <dgm:pt modelId="{645EF2C9-1325-453D-8D33-E3CB5A430198}" type="sibTrans" cxnId="{B856F5B4-C803-4113-94B6-4160739E576F}">
      <dgm:prSet/>
      <dgm:spPr/>
      <dgm:t>
        <a:bodyPr/>
        <a:lstStyle/>
        <a:p>
          <a:endParaRPr lang="en-US"/>
        </a:p>
      </dgm:t>
    </dgm:pt>
    <dgm:pt modelId="{081BF51A-7DBC-4125-9F3B-94868F67EBC9}">
      <dgm:prSet/>
      <dgm:spPr/>
      <dgm:t>
        <a:bodyPr/>
        <a:lstStyle/>
        <a:p>
          <a:pPr>
            <a:lnSpc>
              <a:spcPct val="100000"/>
            </a:lnSpc>
          </a:pPr>
          <a:r>
            <a:rPr lang="en-US" b="1" i="0" dirty="0"/>
            <a:t>Building customers mindset to be analytical and informed about their investment decisions which can generate positive ROI.</a:t>
          </a:r>
          <a:endParaRPr lang="en-US" b="1" dirty="0"/>
        </a:p>
      </dgm:t>
    </dgm:pt>
    <dgm:pt modelId="{B69835E2-99FC-4359-A447-DBD282080558}" type="parTrans" cxnId="{3350FD17-9528-4A8C-8FBA-EB28E29B023D}">
      <dgm:prSet/>
      <dgm:spPr/>
      <dgm:t>
        <a:bodyPr/>
        <a:lstStyle/>
        <a:p>
          <a:endParaRPr lang="en-US"/>
        </a:p>
      </dgm:t>
    </dgm:pt>
    <dgm:pt modelId="{14C4AB4E-0BFA-49B9-AF15-8AF992550159}" type="sibTrans" cxnId="{3350FD17-9528-4A8C-8FBA-EB28E29B023D}">
      <dgm:prSet/>
      <dgm:spPr/>
      <dgm:t>
        <a:bodyPr/>
        <a:lstStyle/>
        <a:p>
          <a:endParaRPr lang="en-US"/>
        </a:p>
      </dgm:t>
    </dgm:pt>
    <dgm:pt modelId="{43BD8210-5DD2-4336-A49B-A481562F953D}">
      <dgm:prSet/>
      <dgm:spPr/>
      <dgm:t>
        <a:bodyPr/>
        <a:lstStyle/>
        <a:p>
          <a:pPr>
            <a:lnSpc>
              <a:spcPct val="100000"/>
            </a:lnSpc>
          </a:pPr>
          <a:r>
            <a:rPr lang="en-US" b="1" i="0" dirty="0"/>
            <a:t>Making them financially literate so that they can make their money work for them and not vice versa.</a:t>
          </a:r>
          <a:endParaRPr lang="en-US" b="1" dirty="0"/>
        </a:p>
      </dgm:t>
    </dgm:pt>
    <dgm:pt modelId="{2F9CB700-4061-4F34-ABE7-5DBE982534C2}" type="parTrans" cxnId="{AD0E2FE9-47D9-43EC-82BB-74755718C8D8}">
      <dgm:prSet/>
      <dgm:spPr/>
      <dgm:t>
        <a:bodyPr/>
        <a:lstStyle/>
        <a:p>
          <a:endParaRPr lang="en-US"/>
        </a:p>
      </dgm:t>
    </dgm:pt>
    <dgm:pt modelId="{42133F70-4E28-42C4-9B05-7C782AE361D6}" type="sibTrans" cxnId="{AD0E2FE9-47D9-43EC-82BB-74755718C8D8}">
      <dgm:prSet/>
      <dgm:spPr/>
      <dgm:t>
        <a:bodyPr/>
        <a:lstStyle/>
        <a:p>
          <a:endParaRPr lang="en-US"/>
        </a:p>
      </dgm:t>
    </dgm:pt>
    <dgm:pt modelId="{55CBEB0E-1F7E-439A-B195-7D7E386BA94A}" type="pres">
      <dgm:prSet presAssocID="{A521E329-0352-4EF7-B81F-F7370CD38B3E}" presName="root" presStyleCnt="0">
        <dgm:presLayoutVars>
          <dgm:dir/>
          <dgm:resizeHandles val="exact"/>
        </dgm:presLayoutVars>
      </dgm:prSet>
      <dgm:spPr/>
    </dgm:pt>
    <dgm:pt modelId="{64B60BA1-6EBE-4AF3-9763-2F46BB9C311F}" type="pres">
      <dgm:prSet presAssocID="{88671F0B-EDE0-4C1E-8249-4A12DAC90A08}" presName="compNode" presStyleCnt="0"/>
      <dgm:spPr/>
    </dgm:pt>
    <dgm:pt modelId="{721B2FE5-1EDA-4AEA-B4CF-A734CB35E840}" type="pres">
      <dgm:prSet presAssocID="{88671F0B-EDE0-4C1E-8249-4A12DAC90A08}" presName="bgRect" presStyleLbl="bgShp" presStyleIdx="0" presStyleCnt="4"/>
      <dgm:spPr/>
    </dgm:pt>
    <dgm:pt modelId="{A13BB909-A89C-4DE0-83F5-5C7A56475643}" type="pres">
      <dgm:prSet presAssocID="{88671F0B-EDE0-4C1E-8249-4A12DAC90A0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63414DB3-45E5-4634-A58F-FD76056CA82F}" type="pres">
      <dgm:prSet presAssocID="{88671F0B-EDE0-4C1E-8249-4A12DAC90A08}" presName="spaceRect" presStyleCnt="0"/>
      <dgm:spPr/>
    </dgm:pt>
    <dgm:pt modelId="{506E9367-ED09-412C-B7B1-A691400A884E}" type="pres">
      <dgm:prSet presAssocID="{88671F0B-EDE0-4C1E-8249-4A12DAC90A08}" presName="parTx" presStyleLbl="revTx" presStyleIdx="0" presStyleCnt="4">
        <dgm:presLayoutVars>
          <dgm:chMax val="0"/>
          <dgm:chPref val="0"/>
        </dgm:presLayoutVars>
      </dgm:prSet>
      <dgm:spPr/>
    </dgm:pt>
    <dgm:pt modelId="{FAFD9F71-2D62-4C1F-8D08-3745B332317D}" type="pres">
      <dgm:prSet presAssocID="{54F90253-5C12-41F9-8FF5-3369D968B0D4}" presName="sibTrans" presStyleCnt="0"/>
      <dgm:spPr/>
    </dgm:pt>
    <dgm:pt modelId="{B42F1598-53CD-47D6-887A-7B0F8ADC092E}" type="pres">
      <dgm:prSet presAssocID="{5E0B933C-B29A-4C5C-8718-305003D9EAC3}" presName="compNode" presStyleCnt="0"/>
      <dgm:spPr/>
    </dgm:pt>
    <dgm:pt modelId="{1A3A6BAC-A74D-48CC-B90C-DE149F3E75C4}" type="pres">
      <dgm:prSet presAssocID="{5E0B933C-B29A-4C5C-8718-305003D9EAC3}" presName="bgRect" presStyleLbl="bgShp" presStyleIdx="1" presStyleCnt="4"/>
      <dgm:spPr/>
    </dgm:pt>
    <dgm:pt modelId="{F31985FE-F6BB-42C1-8F0A-441440C55366}" type="pres">
      <dgm:prSet presAssocID="{5E0B933C-B29A-4C5C-8718-305003D9EAC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redit card"/>
        </a:ext>
      </dgm:extLst>
    </dgm:pt>
    <dgm:pt modelId="{7BC23067-1A25-4991-93F3-B0A2105418D5}" type="pres">
      <dgm:prSet presAssocID="{5E0B933C-B29A-4C5C-8718-305003D9EAC3}" presName="spaceRect" presStyleCnt="0"/>
      <dgm:spPr/>
    </dgm:pt>
    <dgm:pt modelId="{3DC0B443-63E4-4D9C-84F5-2B0439D82E1B}" type="pres">
      <dgm:prSet presAssocID="{5E0B933C-B29A-4C5C-8718-305003D9EAC3}" presName="parTx" presStyleLbl="revTx" presStyleIdx="1" presStyleCnt="4">
        <dgm:presLayoutVars>
          <dgm:chMax val="0"/>
          <dgm:chPref val="0"/>
        </dgm:presLayoutVars>
      </dgm:prSet>
      <dgm:spPr/>
    </dgm:pt>
    <dgm:pt modelId="{190EE5A2-27C8-4CA7-BF39-B21DD4DD4FAB}" type="pres">
      <dgm:prSet presAssocID="{645EF2C9-1325-453D-8D33-E3CB5A430198}" presName="sibTrans" presStyleCnt="0"/>
      <dgm:spPr/>
    </dgm:pt>
    <dgm:pt modelId="{FA869BA4-F1C3-4578-AAB8-C9CCE05014D4}" type="pres">
      <dgm:prSet presAssocID="{081BF51A-7DBC-4125-9F3B-94868F67EBC9}" presName="compNode" presStyleCnt="0"/>
      <dgm:spPr/>
    </dgm:pt>
    <dgm:pt modelId="{BC2CFAE2-AD27-4C93-B173-917ED0A5F6D3}" type="pres">
      <dgm:prSet presAssocID="{081BF51A-7DBC-4125-9F3B-94868F67EBC9}" presName="bgRect" presStyleLbl="bgShp" presStyleIdx="2" presStyleCnt="4"/>
      <dgm:spPr/>
    </dgm:pt>
    <dgm:pt modelId="{25D7E68C-C0BE-448F-871F-C1C43BA9B145}" type="pres">
      <dgm:prSet presAssocID="{081BF51A-7DBC-4125-9F3B-94868F67EBC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E3008C81-9781-498B-B9A6-AC51ED731CFD}" type="pres">
      <dgm:prSet presAssocID="{081BF51A-7DBC-4125-9F3B-94868F67EBC9}" presName="spaceRect" presStyleCnt="0"/>
      <dgm:spPr/>
    </dgm:pt>
    <dgm:pt modelId="{91826041-947B-427D-9597-B3880CBF89EF}" type="pres">
      <dgm:prSet presAssocID="{081BF51A-7DBC-4125-9F3B-94868F67EBC9}" presName="parTx" presStyleLbl="revTx" presStyleIdx="2" presStyleCnt="4">
        <dgm:presLayoutVars>
          <dgm:chMax val="0"/>
          <dgm:chPref val="0"/>
        </dgm:presLayoutVars>
      </dgm:prSet>
      <dgm:spPr/>
    </dgm:pt>
    <dgm:pt modelId="{E53A5AF7-C687-4989-8EE3-D0390FD5D9A1}" type="pres">
      <dgm:prSet presAssocID="{14C4AB4E-0BFA-49B9-AF15-8AF992550159}" presName="sibTrans" presStyleCnt="0"/>
      <dgm:spPr/>
    </dgm:pt>
    <dgm:pt modelId="{0A01FA00-2CF8-4209-AD69-FBAAA36C74FC}" type="pres">
      <dgm:prSet presAssocID="{43BD8210-5DD2-4336-A49B-A481562F953D}" presName="compNode" presStyleCnt="0"/>
      <dgm:spPr/>
    </dgm:pt>
    <dgm:pt modelId="{84FE88E2-7FD8-4FC6-8C85-7472AA9DE10B}" type="pres">
      <dgm:prSet presAssocID="{43BD8210-5DD2-4336-A49B-A481562F953D}" presName="bgRect" presStyleLbl="bgShp" presStyleIdx="3" presStyleCnt="4"/>
      <dgm:spPr/>
    </dgm:pt>
    <dgm:pt modelId="{DDC422B6-9BE5-4D22-903E-686453884421}" type="pres">
      <dgm:prSet presAssocID="{43BD8210-5DD2-4336-A49B-A481562F953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llar"/>
        </a:ext>
      </dgm:extLst>
    </dgm:pt>
    <dgm:pt modelId="{C6666391-19E2-43DC-AB19-89CECBBAAF00}" type="pres">
      <dgm:prSet presAssocID="{43BD8210-5DD2-4336-A49B-A481562F953D}" presName="spaceRect" presStyleCnt="0"/>
      <dgm:spPr/>
    </dgm:pt>
    <dgm:pt modelId="{B85D1A11-DF10-4BB0-9EC2-2CD66E2B288A}" type="pres">
      <dgm:prSet presAssocID="{43BD8210-5DD2-4336-A49B-A481562F953D}" presName="parTx" presStyleLbl="revTx" presStyleIdx="3" presStyleCnt="4">
        <dgm:presLayoutVars>
          <dgm:chMax val="0"/>
          <dgm:chPref val="0"/>
        </dgm:presLayoutVars>
      </dgm:prSet>
      <dgm:spPr/>
    </dgm:pt>
  </dgm:ptLst>
  <dgm:cxnLst>
    <dgm:cxn modelId="{3350FD17-9528-4A8C-8FBA-EB28E29B023D}" srcId="{A521E329-0352-4EF7-B81F-F7370CD38B3E}" destId="{081BF51A-7DBC-4125-9F3B-94868F67EBC9}" srcOrd="2" destOrd="0" parTransId="{B69835E2-99FC-4359-A447-DBD282080558}" sibTransId="{14C4AB4E-0BFA-49B9-AF15-8AF992550159}"/>
    <dgm:cxn modelId="{3D62FF30-81E3-42E7-B934-E9200AB09C73}" type="presOf" srcId="{A521E329-0352-4EF7-B81F-F7370CD38B3E}" destId="{55CBEB0E-1F7E-439A-B195-7D7E386BA94A}" srcOrd="0" destOrd="0" presId="urn:microsoft.com/office/officeart/2018/2/layout/IconVerticalSolidList"/>
    <dgm:cxn modelId="{91FD8E68-8DA4-4F50-84DE-CB1DC7B74E94}" srcId="{A521E329-0352-4EF7-B81F-F7370CD38B3E}" destId="{88671F0B-EDE0-4C1E-8249-4A12DAC90A08}" srcOrd="0" destOrd="0" parTransId="{91177FF5-579D-4782-AB01-26505C58EC05}" sibTransId="{54F90253-5C12-41F9-8FF5-3369D968B0D4}"/>
    <dgm:cxn modelId="{A740D14F-6101-4E98-AE84-68D1DF5AF516}" type="presOf" srcId="{081BF51A-7DBC-4125-9F3B-94868F67EBC9}" destId="{91826041-947B-427D-9597-B3880CBF89EF}" srcOrd="0" destOrd="0" presId="urn:microsoft.com/office/officeart/2018/2/layout/IconVerticalSolidList"/>
    <dgm:cxn modelId="{47633E54-8065-44F3-B709-58A245BD99B6}" type="presOf" srcId="{43BD8210-5DD2-4336-A49B-A481562F953D}" destId="{B85D1A11-DF10-4BB0-9EC2-2CD66E2B288A}" srcOrd="0" destOrd="0" presId="urn:microsoft.com/office/officeart/2018/2/layout/IconVerticalSolidList"/>
    <dgm:cxn modelId="{4FCB9E9B-C7CB-4939-A8E7-3467454E6970}" type="presOf" srcId="{5E0B933C-B29A-4C5C-8718-305003D9EAC3}" destId="{3DC0B443-63E4-4D9C-84F5-2B0439D82E1B}" srcOrd="0" destOrd="0" presId="urn:microsoft.com/office/officeart/2018/2/layout/IconVerticalSolidList"/>
    <dgm:cxn modelId="{E50FBDAD-89C7-4B0B-94A4-A2D349BD312B}" type="presOf" srcId="{88671F0B-EDE0-4C1E-8249-4A12DAC90A08}" destId="{506E9367-ED09-412C-B7B1-A691400A884E}" srcOrd="0" destOrd="0" presId="urn:microsoft.com/office/officeart/2018/2/layout/IconVerticalSolidList"/>
    <dgm:cxn modelId="{B856F5B4-C803-4113-94B6-4160739E576F}" srcId="{A521E329-0352-4EF7-B81F-F7370CD38B3E}" destId="{5E0B933C-B29A-4C5C-8718-305003D9EAC3}" srcOrd="1" destOrd="0" parTransId="{BF67698C-7EBE-4DAD-A634-1101EDE71DEB}" sibTransId="{645EF2C9-1325-453D-8D33-E3CB5A430198}"/>
    <dgm:cxn modelId="{AD0E2FE9-47D9-43EC-82BB-74755718C8D8}" srcId="{A521E329-0352-4EF7-B81F-F7370CD38B3E}" destId="{43BD8210-5DD2-4336-A49B-A481562F953D}" srcOrd="3" destOrd="0" parTransId="{2F9CB700-4061-4F34-ABE7-5DBE982534C2}" sibTransId="{42133F70-4E28-42C4-9B05-7C782AE361D6}"/>
    <dgm:cxn modelId="{B2CD8CF1-28E8-40CD-B298-2E98C2EA310E}" type="presParOf" srcId="{55CBEB0E-1F7E-439A-B195-7D7E386BA94A}" destId="{64B60BA1-6EBE-4AF3-9763-2F46BB9C311F}" srcOrd="0" destOrd="0" presId="urn:microsoft.com/office/officeart/2018/2/layout/IconVerticalSolidList"/>
    <dgm:cxn modelId="{BE20D58A-BAD8-44F8-A9AB-69164D72DD2A}" type="presParOf" srcId="{64B60BA1-6EBE-4AF3-9763-2F46BB9C311F}" destId="{721B2FE5-1EDA-4AEA-B4CF-A734CB35E840}" srcOrd="0" destOrd="0" presId="urn:microsoft.com/office/officeart/2018/2/layout/IconVerticalSolidList"/>
    <dgm:cxn modelId="{27711FD3-DE10-4B9F-A250-6291103C57C4}" type="presParOf" srcId="{64B60BA1-6EBE-4AF3-9763-2F46BB9C311F}" destId="{A13BB909-A89C-4DE0-83F5-5C7A56475643}" srcOrd="1" destOrd="0" presId="urn:microsoft.com/office/officeart/2018/2/layout/IconVerticalSolidList"/>
    <dgm:cxn modelId="{3B87E8A6-6263-42EE-B89A-84F42E3BBBA9}" type="presParOf" srcId="{64B60BA1-6EBE-4AF3-9763-2F46BB9C311F}" destId="{63414DB3-45E5-4634-A58F-FD76056CA82F}" srcOrd="2" destOrd="0" presId="urn:microsoft.com/office/officeart/2018/2/layout/IconVerticalSolidList"/>
    <dgm:cxn modelId="{1134F44E-02FD-429A-8705-EB91F13E3BAA}" type="presParOf" srcId="{64B60BA1-6EBE-4AF3-9763-2F46BB9C311F}" destId="{506E9367-ED09-412C-B7B1-A691400A884E}" srcOrd="3" destOrd="0" presId="urn:microsoft.com/office/officeart/2018/2/layout/IconVerticalSolidList"/>
    <dgm:cxn modelId="{4A67F08E-A035-4CD5-BCCE-8EE1016D67FC}" type="presParOf" srcId="{55CBEB0E-1F7E-439A-B195-7D7E386BA94A}" destId="{FAFD9F71-2D62-4C1F-8D08-3745B332317D}" srcOrd="1" destOrd="0" presId="urn:microsoft.com/office/officeart/2018/2/layout/IconVerticalSolidList"/>
    <dgm:cxn modelId="{038E070B-C068-4024-B0FF-EA140AB7E730}" type="presParOf" srcId="{55CBEB0E-1F7E-439A-B195-7D7E386BA94A}" destId="{B42F1598-53CD-47D6-887A-7B0F8ADC092E}" srcOrd="2" destOrd="0" presId="urn:microsoft.com/office/officeart/2018/2/layout/IconVerticalSolidList"/>
    <dgm:cxn modelId="{27718131-F7D7-4EB5-8A4A-A24A99E7BE62}" type="presParOf" srcId="{B42F1598-53CD-47D6-887A-7B0F8ADC092E}" destId="{1A3A6BAC-A74D-48CC-B90C-DE149F3E75C4}" srcOrd="0" destOrd="0" presId="urn:microsoft.com/office/officeart/2018/2/layout/IconVerticalSolidList"/>
    <dgm:cxn modelId="{AD1F6DD4-E846-4523-AB96-1F64ABC54A9E}" type="presParOf" srcId="{B42F1598-53CD-47D6-887A-7B0F8ADC092E}" destId="{F31985FE-F6BB-42C1-8F0A-441440C55366}" srcOrd="1" destOrd="0" presId="urn:microsoft.com/office/officeart/2018/2/layout/IconVerticalSolidList"/>
    <dgm:cxn modelId="{98344623-5E5E-4853-9362-956D185C0411}" type="presParOf" srcId="{B42F1598-53CD-47D6-887A-7B0F8ADC092E}" destId="{7BC23067-1A25-4991-93F3-B0A2105418D5}" srcOrd="2" destOrd="0" presId="urn:microsoft.com/office/officeart/2018/2/layout/IconVerticalSolidList"/>
    <dgm:cxn modelId="{B6EF9F47-0892-41C5-9124-AEE4A1A2EC54}" type="presParOf" srcId="{B42F1598-53CD-47D6-887A-7B0F8ADC092E}" destId="{3DC0B443-63E4-4D9C-84F5-2B0439D82E1B}" srcOrd="3" destOrd="0" presId="urn:microsoft.com/office/officeart/2018/2/layout/IconVerticalSolidList"/>
    <dgm:cxn modelId="{9A6644C0-5228-4E65-9CE9-FB97BEAD3115}" type="presParOf" srcId="{55CBEB0E-1F7E-439A-B195-7D7E386BA94A}" destId="{190EE5A2-27C8-4CA7-BF39-B21DD4DD4FAB}" srcOrd="3" destOrd="0" presId="urn:microsoft.com/office/officeart/2018/2/layout/IconVerticalSolidList"/>
    <dgm:cxn modelId="{441AA425-CBD3-44D8-AC7D-4E42AD1E888B}" type="presParOf" srcId="{55CBEB0E-1F7E-439A-B195-7D7E386BA94A}" destId="{FA869BA4-F1C3-4578-AAB8-C9CCE05014D4}" srcOrd="4" destOrd="0" presId="urn:microsoft.com/office/officeart/2018/2/layout/IconVerticalSolidList"/>
    <dgm:cxn modelId="{08CA59E5-2F1A-4536-946E-DA43D47A1BFC}" type="presParOf" srcId="{FA869BA4-F1C3-4578-AAB8-C9CCE05014D4}" destId="{BC2CFAE2-AD27-4C93-B173-917ED0A5F6D3}" srcOrd="0" destOrd="0" presId="urn:microsoft.com/office/officeart/2018/2/layout/IconVerticalSolidList"/>
    <dgm:cxn modelId="{C2501F32-B2D8-40A1-BC90-B912B3E29809}" type="presParOf" srcId="{FA869BA4-F1C3-4578-AAB8-C9CCE05014D4}" destId="{25D7E68C-C0BE-448F-871F-C1C43BA9B145}" srcOrd="1" destOrd="0" presId="urn:microsoft.com/office/officeart/2018/2/layout/IconVerticalSolidList"/>
    <dgm:cxn modelId="{60F04F51-8522-4170-BC3E-B520575F1B9B}" type="presParOf" srcId="{FA869BA4-F1C3-4578-AAB8-C9CCE05014D4}" destId="{E3008C81-9781-498B-B9A6-AC51ED731CFD}" srcOrd="2" destOrd="0" presId="urn:microsoft.com/office/officeart/2018/2/layout/IconVerticalSolidList"/>
    <dgm:cxn modelId="{E705F7AE-E374-4D9C-B24A-3D6530091069}" type="presParOf" srcId="{FA869BA4-F1C3-4578-AAB8-C9CCE05014D4}" destId="{91826041-947B-427D-9597-B3880CBF89EF}" srcOrd="3" destOrd="0" presId="urn:microsoft.com/office/officeart/2018/2/layout/IconVerticalSolidList"/>
    <dgm:cxn modelId="{58FF17F6-84CA-4F52-A24D-78D68DCC7FAE}" type="presParOf" srcId="{55CBEB0E-1F7E-439A-B195-7D7E386BA94A}" destId="{E53A5AF7-C687-4989-8EE3-D0390FD5D9A1}" srcOrd="5" destOrd="0" presId="urn:microsoft.com/office/officeart/2018/2/layout/IconVerticalSolidList"/>
    <dgm:cxn modelId="{0A7733DB-48D6-470A-9BE5-D1599A18CCA3}" type="presParOf" srcId="{55CBEB0E-1F7E-439A-B195-7D7E386BA94A}" destId="{0A01FA00-2CF8-4209-AD69-FBAAA36C74FC}" srcOrd="6" destOrd="0" presId="urn:microsoft.com/office/officeart/2018/2/layout/IconVerticalSolidList"/>
    <dgm:cxn modelId="{587E9A3E-20EB-40B5-8E84-E6FF5FF2E673}" type="presParOf" srcId="{0A01FA00-2CF8-4209-AD69-FBAAA36C74FC}" destId="{84FE88E2-7FD8-4FC6-8C85-7472AA9DE10B}" srcOrd="0" destOrd="0" presId="urn:microsoft.com/office/officeart/2018/2/layout/IconVerticalSolidList"/>
    <dgm:cxn modelId="{96B02EA9-1656-4538-BF86-84481F16AAA9}" type="presParOf" srcId="{0A01FA00-2CF8-4209-AD69-FBAAA36C74FC}" destId="{DDC422B6-9BE5-4D22-903E-686453884421}" srcOrd="1" destOrd="0" presId="urn:microsoft.com/office/officeart/2018/2/layout/IconVerticalSolidList"/>
    <dgm:cxn modelId="{47EAC967-EFE9-4E74-B73F-A8177B3504CD}" type="presParOf" srcId="{0A01FA00-2CF8-4209-AD69-FBAAA36C74FC}" destId="{C6666391-19E2-43DC-AB19-89CECBBAAF00}" srcOrd="2" destOrd="0" presId="urn:microsoft.com/office/officeart/2018/2/layout/IconVerticalSolidList"/>
    <dgm:cxn modelId="{3311356E-8BC3-45A3-A16D-385213D3489D}" type="presParOf" srcId="{0A01FA00-2CF8-4209-AD69-FBAAA36C74FC}" destId="{B85D1A11-DF10-4BB0-9EC2-2CD66E2B288A}"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B3376-6AF0-4EC4-920A-7DA257B8D580}">
      <dsp:nvSpPr>
        <dsp:cNvPr id="0" name=""/>
        <dsp:cNvSpPr/>
      </dsp:nvSpPr>
      <dsp:spPr>
        <a:xfrm>
          <a:off x="2322550" y="692712"/>
          <a:ext cx="503501" cy="91440"/>
        </a:xfrm>
        <a:custGeom>
          <a:avLst/>
          <a:gdLst/>
          <a:ahLst/>
          <a:cxnLst/>
          <a:rect l="0" t="0" r="0" b="0"/>
          <a:pathLst>
            <a:path>
              <a:moveTo>
                <a:pt x="0" y="45720"/>
              </a:moveTo>
              <a:lnTo>
                <a:pt x="503501"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0948" y="735762"/>
        <a:ext cx="26705" cy="5341"/>
      </dsp:txXfrm>
    </dsp:sp>
    <dsp:sp modelId="{44F64D7A-BBCF-4BF5-B435-30C13E305588}">
      <dsp:nvSpPr>
        <dsp:cNvPr id="0" name=""/>
        <dsp:cNvSpPr/>
      </dsp:nvSpPr>
      <dsp:spPr>
        <a:xfrm>
          <a:off x="2167" y="41778"/>
          <a:ext cx="2322182" cy="139330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t>Introduction</a:t>
          </a:r>
        </a:p>
      </dsp:txBody>
      <dsp:txXfrm>
        <a:off x="2167" y="41778"/>
        <a:ext cx="2322182" cy="1393309"/>
      </dsp:txXfrm>
    </dsp:sp>
    <dsp:sp modelId="{D8C70E68-9222-4044-9BCE-B74ED1CDD7BD}">
      <dsp:nvSpPr>
        <dsp:cNvPr id="0" name=""/>
        <dsp:cNvSpPr/>
      </dsp:nvSpPr>
      <dsp:spPr>
        <a:xfrm>
          <a:off x="5178834" y="692712"/>
          <a:ext cx="503501" cy="91440"/>
        </a:xfrm>
        <a:custGeom>
          <a:avLst/>
          <a:gdLst/>
          <a:ahLst/>
          <a:cxnLst/>
          <a:rect l="0" t="0" r="0" b="0"/>
          <a:pathLst>
            <a:path>
              <a:moveTo>
                <a:pt x="0" y="45720"/>
              </a:moveTo>
              <a:lnTo>
                <a:pt x="503501" y="45720"/>
              </a:lnTo>
            </a:path>
          </a:pathLst>
        </a:custGeom>
        <a:noFill/>
        <a:ln w="9525"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17232" y="735762"/>
        <a:ext cx="26705" cy="5341"/>
      </dsp:txXfrm>
    </dsp:sp>
    <dsp:sp modelId="{102E727F-D7B9-4AB7-9A47-2248A843C1DD}">
      <dsp:nvSpPr>
        <dsp:cNvPr id="0" name=""/>
        <dsp:cNvSpPr/>
      </dsp:nvSpPr>
      <dsp:spPr>
        <a:xfrm>
          <a:off x="2858451" y="41778"/>
          <a:ext cx="2322182" cy="1393309"/>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t>How FinOclik is useful?</a:t>
          </a:r>
        </a:p>
      </dsp:txBody>
      <dsp:txXfrm>
        <a:off x="2858451" y="41778"/>
        <a:ext cx="2322182" cy="1393309"/>
      </dsp:txXfrm>
    </dsp:sp>
    <dsp:sp modelId="{4E63605C-9ECA-47FF-94CF-4189385E9A05}">
      <dsp:nvSpPr>
        <dsp:cNvPr id="0" name=""/>
        <dsp:cNvSpPr/>
      </dsp:nvSpPr>
      <dsp:spPr>
        <a:xfrm>
          <a:off x="8035118" y="692712"/>
          <a:ext cx="503501" cy="91440"/>
        </a:xfrm>
        <a:custGeom>
          <a:avLst/>
          <a:gdLst/>
          <a:ahLst/>
          <a:cxnLst/>
          <a:rect l="0" t="0" r="0" b="0"/>
          <a:pathLst>
            <a:path>
              <a:moveTo>
                <a:pt x="0" y="45720"/>
              </a:moveTo>
              <a:lnTo>
                <a:pt x="503501" y="45720"/>
              </a:lnTo>
            </a:path>
          </a:pathLst>
        </a:custGeom>
        <a:noFill/>
        <a:ln w="9525"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273516" y="735762"/>
        <a:ext cx="26705" cy="5341"/>
      </dsp:txXfrm>
    </dsp:sp>
    <dsp:sp modelId="{A74F4EB1-187B-4EAE-B987-ECB23FE67491}">
      <dsp:nvSpPr>
        <dsp:cNvPr id="0" name=""/>
        <dsp:cNvSpPr/>
      </dsp:nvSpPr>
      <dsp:spPr>
        <a:xfrm>
          <a:off x="5714735" y="41778"/>
          <a:ext cx="2322182" cy="1393309"/>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t>Our target customers?</a:t>
          </a:r>
        </a:p>
      </dsp:txBody>
      <dsp:txXfrm>
        <a:off x="5714735" y="41778"/>
        <a:ext cx="2322182" cy="1393309"/>
      </dsp:txXfrm>
    </dsp:sp>
    <dsp:sp modelId="{3AAF1725-697D-46EC-8542-9317F9331083}">
      <dsp:nvSpPr>
        <dsp:cNvPr id="0" name=""/>
        <dsp:cNvSpPr/>
      </dsp:nvSpPr>
      <dsp:spPr>
        <a:xfrm>
          <a:off x="1163258" y="1433287"/>
          <a:ext cx="8568852" cy="503501"/>
        </a:xfrm>
        <a:custGeom>
          <a:avLst/>
          <a:gdLst/>
          <a:ahLst/>
          <a:cxnLst/>
          <a:rect l="0" t="0" r="0" b="0"/>
          <a:pathLst>
            <a:path>
              <a:moveTo>
                <a:pt x="8568852" y="0"/>
              </a:moveTo>
              <a:lnTo>
                <a:pt x="8568852" y="268850"/>
              </a:lnTo>
              <a:lnTo>
                <a:pt x="0" y="268850"/>
              </a:lnTo>
              <a:lnTo>
                <a:pt x="0" y="503501"/>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3047" y="1682367"/>
        <a:ext cx="429274" cy="5341"/>
      </dsp:txXfrm>
    </dsp:sp>
    <dsp:sp modelId="{AACBD7D2-FF73-4EC1-975A-C8C1013F3672}">
      <dsp:nvSpPr>
        <dsp:cNvPr id="0" name=""/>
        <dsp:cNvSpPr/>
      </dsp:nvSpPr>
      <dsp:spPr>
        <a:xfrm>
          <a:off x="8571019" y="41778"/>
          <a:ext cx="2322182" cy="1393309"/>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Century Gothic" panose="020B0502020202020204"/>
            </a:rPr>
            <a:t>References</a:t>
          </a:r>
          <a:endParaRPr lang="en-US" sz="2700" kern="1200" dirty="0"/>
        </a:p>
      </dsp:txBody>
      <dsp:txXfrm>
        <a:off x="8571019" y="41778"/>
        <a:ext cx="2322182" cy="1393309"/>
      </dsp:txXfrm>
    </dsp:sp>
    <dsp:sp modelId="{4BC50E06-E90A-4E1E-A96E-EE8D4D8F10FF}">
      <dsp:nvSpPr>
        <dsp:cNvPr id="0" name=""/>
        <dsp:cNvSpPr/>
      </dsp:nvSpPr>
      <dsp:spPr>
        <a:xfrm>
          <a:off x="2322550" y="2620124"/>
          <a:ext cx="503501" cy="91440"/>
        </a:xfrm>
        <a:custGeom>
          <a:avLst/>
          <a:gdLst/>
          <a:ahLst/>
          <a:cxnLst/>
          <a:rect l="0" t="0" r="0" b="0"/>
          <a:pathLst>
            <a:path>
              <a:moveTo>
                <a:pt x="0" y="45720"/>
              </a:moveTo>
              <a:lnTo>
                <a:pt x="503501" y="45720"/>
              </a:lnTo>
            </a:path>
          </a:pathLst>
        </a:custGeom>
        <a:noFill/>
        <a:ln w="9525" cap="rnd"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0948" y="2663173"/>
        <a:ext cx="26705" cy="5341"/>
      </dsp:txXfrm>
    </dsp:sp>
    <dsp:sp modelId="{39553D29-455A-44EE-BEEE-D5E11E7AC17B}">
      <dsp:nvSpPr>
        <dsp:cNvPr id="0" name=""/>
        <dsp:cNvSpPr/>
      </dsp:nvSpPr>
      <dsp:spPr>
        <a:xfrm>
          <a:off x="2167" y="1969189"/>
          <a:ext cx="2322182" cy="1393309"/>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t>Summary </a:t>
          </a:r>
        </a:p>
      </dsp:txBody>
      <dsp:txXfrm>
        <a:off x="2167" y="1969189"/>
        <a:ext cx="2322182" cy="1393309"/>
      </dsp:txXfrm>
    </dsp:sp>
    <dsp:sp modelId="{510FE0E9-6635-4872-BEEA-48791AA2F303}">
      <dsp:nvSpPr>
        <dsp:cNvPr id="0" name=""/>
        <dsp:cNvSpPr/>
      </dsp:nvSpPr>
      <dsp:spPr>
        <a:xfrm>
          <a:off x="5178834" y="2620124"/>
          <a:ext cx="503501" cy="91440"/>
        </a:xfrm>
        <a:custGeom>
          <a:avLst/>
          <a:gdLst/>
          <a:ahLst/>
          <a:cxnLst/>
          <a:rect l="0" t="0" r="0" b="0"/>
          <a:pathLst>
            <a:path>
              <a:moveTo>
                <a:pt x="0" y="45720"/>
              </a:moveTo>
              <a:lnTo>
                <a:pt x="503501"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17232" y="2663173"/>
        <a:ext cx="26705" cy="5341"/>
      </dsp:txXfrm>
    </dsp:sp>
    <dsp:sp modelId="{267E0077-5017-40C8-AB1E-69282C8E7F33}">
      <dsp:nvSpPr>
        <dsp:cNvPr id="0" name=""/>
        <dsp:cNvSpPr/>
      </dsp:nvSpPr>
      <dsp:spPr>
        <a:xfrm>
          <a:off x="2858451" y="1969189"/>
          <a:ext cx="2322182" cy="139330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rtl="0">
            <a:lnSpc>
              <a:spcPct val="90000"/>
            </a:lnSpc>
            <a:spcBef>
              <a:spcPct val="0"/>
            </a:spcBef>
            <a:spcAft>
              <a:spcPct val="35000"/>
            </a:spcAft>
            <a:buNone/>
          </a:pPr>
          <a:r>
            <a:rPr lang="en-US" sz="2700" kern="1200" dirty="0">
              <a:latin typeface="Century Gothic" panose="020B0502020202020204"/>
            </a:rPr>
            <a:t>Demo </a:t>
          </a:r>
        </a:p>
      </dsp:txBody>
      <dsp:txXfrm>
        <a:off x="2858451" y="1969189"/>
        <a:ext cx="2322182" cy="1393309"/>
      </dsp:txXfrm>
    </dsp:sp>
    <dsp:sp modelId="{D127C563-3A49-4FD9-B8A3-AB979F7CB81B}">
      <dsp:nvSpPr>
        <dsp:cNvPr id="0" name=""/>
        <dsp:cNvSpPr/>
      </dsp:nvSpPr>
      <dsp:spPr>
        <a:xfrm>
          <a:off x="5714735" y="1969189"/>
          <a:ext cx="2322182" cy="1393309"/>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89" tIns="119441" rIns="113789" bIns="119441"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Century Gothic" panose="020B0502020202020204"/>
            </a:rPr>
            <a:t>Q&amp;A</a:t>
          </a:r>
        </a:p>
      </dsp:txBody>
      <dsp:txXfrm>
        <a:off x="5714735" y="1969189"/>
        <a:ext cx="2322182" cy="13933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B2FE5-1EDA-4AEA-B4CF-A734CB35E840}">
      <dsp:nvSpPr>
        <dsp:cNvPr id="0" name=""/>
        <dsp:cNvSpPr/>
      </dsp:nvSpPr>
      <dsp:spPr>
        <a:xfrm>
          <a:off x="0" y="2240"/>
          <a:ext cx="7091236" cy="11357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3BB909-A89C-4DE0-83F5-5C7A56475643}">
      <dsp:nvSpPr>
        <dsp:cNvPr id="0" name=""/>
        <dsp:cNvSpPr/>
      </dsp:nvSpPr>
      <dsp:spPr>
        <a:xfrm>
          <a:off x="343559" y="257781"/>
          <a:ext cx="624653" cy="6246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6E9367-ED09-412C-B7B1-A691400A884E}">
      <dsp:nvSpPr>
        <dsp:cNvPr id="0" name=""/>
        <dsp:cNvSpPr/>
      </dsp:nvSpPr>
      <dsp:spPr>
        <a:xfrm>
          <a:off x="1311772" y="2240"/>
          <a:ext cx="5779463" cy="113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99" tIns="120199" rIns="120199" bIns="120199" numCol="1" spcCol="1270" anchor="ctr" anchorCtr="0">
          <a:noAutofit/>
        </a:bodyPr>
        <a:lstStyle/>
        <a:p>
          <a:pPr marL="0" lvl="0" indent="0" algn="l" defTabSz="844550">
            <a:lnSpc>
              <a:spcPct val="100000"/>
            </a:lnSpc>
            <a:spcBef>
              <a:spcPct val="0"/>
            </a:spcBef>
            <a:spcAft>
              <a:spcPct val="35000"/>
            </a:spcAft>
            <a:buNone/>
          </a:pPr>
          <a:r>
            <a:rPr lang="en-US" sz="1900" b="1" i="0" kern="1200" dirty="0"/>
            <a:t>Increasing knowledge of investment and how it can impact your life for good.</a:t>
          </a:r>
          <a:endParaRPr lang="en-US" sz="1900" b="1" kern="1200" dirty="0"/>
        </a:p>
      </dsp:txBody>
      <dsp:txXfrm>
        <a:off x="1311772" y="2240"/>
        <a:ext cx="5779463" cy="1135734"/>
      </dsp:txXfrm>
    </dsp:sp>
    <dsp:sp modelId="{1A3A6BAC-A74D-48CC-B90C-DE149F3E75C4}">
      <dsp:nvSpPr>
        <dsp:cNvPr id="0" name=""/>
        <dsp:cNvSpPr/>
      </dsp:nvSpPr>
      <dsp:spPr>
        <a:xfrm>
          <a:off x="0" y="1421908"/>
          <a:ext cx="7091236" cy="11357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1985FE-F6BB-42C1-8F0A-441440C55366}">
      <dsp:nvSpPr>
        <dsp:cNvPr id="0" name=""/>
        <dsp:cNvSpPr/>
      </dsp:nvSpPr>
      <dsp:spPr>
        <a:xfrm>
          <a:off x="343559" y="1677448"/>
          <a:ext cx="624653" cy="6246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C0B443-63E4-4D9C-84F5-2B0439D82E1B}">
      <dsp:nvSpPr>
        <dsp:cNvPr id="0" name=""/>
        <dsp:cNvSpPr/>
      </dsp:nvSpPr>
      <dsp:spPr>
        <a:xfrm>
          <a:off x="1311772" y="1421908"/>
          <a:ext cx="5779463" cy="113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99" tIns="120199" rIns="120199" bIns="120199" numCol="1" spcCol="1270" anchor="ctr" anchorCtr="0">
          <a:noAutofit/>
        </a:bodyPr>
        <a:lstStyle/>
        <a:p>
          <a:pPr marL="0" lvl="0" indent="0" algn="l" defTabSz="844550">
            <a:lnSpc>
              <a:spcPct val="100000"/>
            </a:lnSpc>
            <a:spcBef>
              <a:spcPct val="0"/>
            </a:spcBef>
            <a:spcAft>
              <a:spcPct val="35000"/>
            </a:spcAft>
            <a:buNone/>
          </a:pPr>
          <a:r>
            <a:rPr lang="en-US" sz="1900" b="1" i="0" kern="1200" dirty="0"/>
            <a:t>Enabling accessibility to get answers for any financial queries on a click of a button.</a:t>
          </a:r>
          <a:endParaRPr lang="en-US" sz="1900" b="1" kern="1200" dirty="0"/>
        </a:p>
      </dsp:txBody>
      <dsp:txXfrm>
        <a:off x="1311772" y="1421908"/>
        <a:ext cx="5779463" cy="1135734"/>
      </dsp:txXfrm>
    </dsp:sp>
    <dsp:sp modelId="{BC2CFAE2-AD27-4C93-B173-917ED0A5F6D3}">
      <dsp:nvSpPr>
        <dsp:cNvPr id="0" name=""/>
        <dsp:cNvSpPr/>
      </dsp:nvSpPr>
      <dsp:spPr>
        <a:xfrm>
          <a:off x="0" y="2841576"/>
          <a:ext cx="7091236" cy="11357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D7E68C-C0BE-448F-871F-C1C43BA9B145}">
      <dsp:nvSpPr>
        <dsp:cNvPr id="0" name=""/>
        <dsp:cNvSpPr/>
      </dsp:nvSpPr>
      <dsp:spPr>
        <a:xfrm>
          <a:off x="343559" y="3097116"/>
          <a:ext cx="624653" cy="6246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26041-947B-427D-9597-B3880CBF89EF}">
      <dsp:nvSpPr>
        <dsp:cNvPr id="0" name=""/>
        <dsp:cNvSpPr/>
      </dsp:nvSpPr>
      <dsp:spPr>
        <a:xfrm>
          <a:off x="1311772" y="2841576"/>
          <a:ext cx="5779463" cy="113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99" tIns="120199" rIns="120199" bIns="120199" numCol="1" spcCol="1270" anchor="ctr" anchorCtr="0">
          <a:noAutofit/>
        </a:bodyPr>
        <a:lstStyle/>
        <a:p>
          <a:pPr marL="0" lvl="0" indent="0" algn="l" defTabSz="844550">
            <a:lnSpc>
              <a:spcPct val="100000"/>
            </a:lnSpc>
            <a:spcBef>
              <a:spcPct val="0"/>
            </a:spcBef>
            <a:spcAft>
              <a:spcPct val="35000"/>
            </a:spcAft>
            <a:buNone/>
          </a:pPr>
          <a:r>
            <a:rPr lang="en-US" sz="1900" b="1" i="0" kern="1200" dirty="0"/>
            <a:t>Building customers mindset to be analytical and informed about their investment decisions which can generate positive ROI.</a:t>
          </a:r>
          <a:endParaRPr lang="en-US" sz="1900" b="1" kern="1200" dirty="0"/>
        </a:p>
      </dsp:txBody>
      <dsp:txXfrm>
        <a:off x="1311772" y="2841576"/>
        <a:ext cx="5779463" cy="1135734"/>
      </dsp:txXfrm>
    </dsp:sp>
    <dsp:sp modelId="{84FE88E2-7FD8-4FC6-8C85-7472AA9DE10B}">
      <dsp:nvSpPr>
        <dsp:cNvPr id="0" name=""/>
        <dsp:cNvSpPr/>
      </dsp:nvSpPr>
      <dsp:spPr>
        <a:xfrm>
          <a:off x="0" y="4261243"/>
          <a:ext cx="7091236" cy="113573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C422B6-9BE5-4D22-903E-686453884421}">
      <dsp:nvSpPr>
        <dsp:cNvPr id="0" name=""/>
        <dsp:cNvSpPr/>
      </dsp:nvSpPr>
      <dsp:spPr>
        <a:xfrm>
          <a:off x="343559" y="4516784"/>
          <a:ext cx="624653" cy="6246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5D1A11-DF10-4BB0-9EC2-2CD66E2B288A}">
      <dsp:nvSpPr>
        <dsp:cNvPr id="0" name=""/>
        <dsp:cNvSpPr/>
      </dsp:nvSpPr>
      <dsp:spPr>
        <a:xfrm>
          <a:off x="1311772" y="4261243"/>
          <a:ext cx="5779463" cy="1135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199" tIns="120199" rIns="120199" bIns="120199" numCol="1" spcCol="1270" anchor="ctr" anchorCtr="0">
          <a:noAutofit/>
        </a:bodyPr>
        <a:lstStyle/>
        <a:p>
          <a:pPr marL="0" lvl="0" indent="0" algn="l" defTabSz="844550">
            <a:lnSpc>
              <a:spcPct val="100000"/>
            </a:lnSpc>
            <a:spcBef>
              <a:spcPct val="0"/>
            </a:spcBef>
            <a:spcAft>
              <a:spcPct val="35000"/>
            </a:spcAft>
            <a:buNone/>
          </a:pPr>
          <a:r>
            <a:rPr lang="en-US" sz="1900" b="1" i="0" kern="1200" dirty="0"/>
            <a:t>Making them financially literate so that they can make their money work for them and not vice versa.</a:t>
          </a:r>
          <a:endParaRPr lang="en-US" sz="1900" b="1" kern="1200" dirty="0"/>
        </a:p>
      </dsp:txBody>
      <dsp:txXfrm>
        <a:off x="1311772" y="4261243"/>
        <a:ext cx="5779463" cy="113573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5811F-5C0A-45D5-9FA1-36770923F480}" type="datetimeFigureOut">
              <a:rPr lang="en-IN" smtClean="0"/>
              <a:t>16-04-2024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B0C938-CD90-43BF-8BE2-7EFC0E89F6A9}" type="slidenum">
              <a:rPr lang="en-IN" smtClean="0"/>
              <a:t>‹#›</a:t>
            </a:fld>
            <a:endParaRPr lang="en-IN"/>
          </a:p>
        </p:txBody>
      </p:sp>
    </p:spTree>
    <p:extLst>
      <p:ext uri="{BB962C8B-B14F-4D97-AF65-F5344CB8AC3E}">
        <p14:creationId xmlns:p14="http://schemas.microsoft.com/office/powerpoint/2010/main" val="364401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0158377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09791185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2297210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smtClean="0"/>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2379856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smtClean="0"/>
              <a:t>4/16/2024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6842174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9383482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6070444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06084378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231608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8472261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3773133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6180861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8306194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96864010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3171965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1618533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4/16/2024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627376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4/16/2024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263954873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3.png"/><Relationship Id="rId7" Type="http://schemas.openxmlformats.org/officeDocument/2006/relationships/diagramLayout" Target="../diagrams/layout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image" Target="../media/image5.png"/><Relationship Id="rId10" Type="http://schemas.microsoft.com/office/2007/relationships/diagramDrawing" Target="../diagrams/drawing2.xml"/><Relationship Id="rId4" Type="http://schemas.openxmlformats.org/officeDocument/2006/relationships/image" Target="../media/image4.png"/><Relationship Id="rId9" Type="http://schemas.openxmlformats.org/officeDocument/2006/relationships/diagramColors" Target="../diagrams/colors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hyperlink" Target="https://mindster.com/mindster-blogs/the-rise-of-chatbot-banking-understanding-its-potentia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mindster.com/mindster-blogs/the-rise-of-chatbot-banking-understanding-its-potential/" TargetMode="External"/><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pulse/how-ai-driven-chatbots-transforming-financial-services-industry-ugrmc/" TargetMode="External"/><Relationship Id="rId7" Type="http://schemas.openxmlformats.org/officeDocument/2006/relationships/hyperlink" Target="https://www.investmint.club/blog/6-biggest-stock-market-scams-that-shook-the-indian-investors/#:~:text=The%20Harshad%20Mehta%20scam%20was,interbank%20market%20for%20short%20periods" TargetMode="External"/><Relationship Id="rId2" Type="http://schemas.openxmlformats.org/officeDocument/2006/relationships/hyperlink" Target="https://botpress.com/blog/top-chatbots-financial-services" TargetMode="External"/><Relationship Id="rId1" Type="http://schemas.openxmlformats.org/officeDocument/2006/relationships/slideLayout" Target="../slideLayouts/slideLayout2.xml"/><Relationship Id="rId6" Type="http://schemas.openxmlformats.org/officeDocument/2006/relationships/hyperlink" Target="https://www.nerdwallet.com/article/investing/stock-market-basics-everything-beginner-investors-know" TargetMode="External"/><Relationship Id="rId5" Type="http://schemas.openxmlformats.org/officeDocument/2006/relationships/hyperlink" Target="https://online.hbs.edu/blog/post/finance-for-non-finance-professionals-finance-terms-to-know?c1=GAW_CM_NW&amp;source=CA_GEN_PMAX&amp;cr2=content__-__ca__-__gen__-__pmax&amp;kw=general&amp;cr5=&amp;cr6=&amp;cr7=c&amp;utm_campaign=content__-__ca__-__gen__-__pmax&amp;utm_term=general&amp;gad_source=1&amp;gclid=Cj0KCQjwq86wBhDiARIsAJhuphmuInQMO98mQGjGBlSGLvzQkfs3EUUOkyQkHus1cJrjuP4Lzgd8DNUaAhObEALw_wcB" TargetMode="External"/><Relationship Id="rId4" Type="http://schemas.openxmlformats.org/officeDocument/2006/relationships/hyperlink" Target="https://yellow.systems/blog/chatbots-in-finance"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bloomberg.com/quote/CCMP:IND" TargetMode="External"/><Relationship Id="rId3" Type="http://schemas.openxmlformats.org/officeDocument/2006/relationships/hyperlink" Target="https://online.hbs.edu/blog/post/finance-for-non-finance-professionals-finance-terms-to-know" TargetMode="External"/><Relationship Id="rId7" Type="http://schemas.openxmlformats.org/officeDocument/2006/relationships/hyperlink" Target="https://finance.yahoo.com/quote/%5EIXIC/" TargetMode="External"/><Relationship Id="rId2" Type="http://schemas.openxmlformats.org/officeDocument/2006/relationships/hyperlink" Target="https://www.sas.com/en_ca/insights/articles/analytics/five-ai-technologies.html" TargetMode="External"/><Relationship Id="rId1" Type="http://schemas.openxmlformats.org/officeDocument/2006/relationships/slideLayout" Target="../slideLayouts/slideLayout2.xml"/><Relationship Id="rId6" Type="http://schemas.openxmlformats.org/officeDocument/2006/relationships/hyperlink" Target="https://www.nasdaq.com/" TargetMode="External"/><Relationship Id="rId11" Type="http://schemas.openxmlformats.org/officeDocument/2006/relationships/hyperlink" Target="https://timesofindia.indiatimes.com/gadgets-news/pune-man-loses-rs-2-1-crore-to-investment-scam-what-is-it-and-how-to-stay-safe/articleshow/106454523.cms" TargetMode="External"/><Relationship Id="rId5" Type="http://schemas.openxmlformats.org/officeDocument/2006/relationships/hyperlink" Target="https://www.rbcroyalbank.com/en-ca/new-to-canada/glossary-financial-terms/" TargetMode="External"/><Relationship Id="rId10" Type="http://schemas.openxmlformats.org/officeDocument/2006/relationships/hyperlink" Target="https://www.freshworks.com/customer-service-suite/lp/ai-conversational-chatbots/?tactic_id=5587714&amp;utm_source=GoogleAdwords&amp;utm_medium=Fchat-Search-US-East-Generic-BOFU-Chatbot&amp;utm_campaign=Fchat-Search-US-East-Generic-BOFU-Chatbot&amp;utm_term=chatbot%20in%20software&amp;device=c&amp;matchtype=p&amp;network=g&amp;gclid=Cj0KCQjwlN6wBhCcARIsAKZvD5gKElQPGgkMGOdcf9xuE73Mn9C1fwECFUuf31ahqqGG4cyuQfj850kaAo3BEALw_wcB&amp;audience=kwd-1249032152042&amp;ad_id=640030498218&amp;gad_source=1" TargetMode="External"/><Relationship Id="rId4" Type="http://schemas.openxmlformats.org/officeDocument/2006/relationships/hyperlink" Target="https://www.investopedia.com/financial-term-dictionary-4769738" TargetMode="External"/><Relationship Id="rId9" Type="http://schemas.openxmlformats.org/officeDocument/2006/relationships/hyperlink" Target="https://www.ft.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meghaannmathew1996.wixsite.com/finocli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ftp/arxiv/papers/2309/2309.00649.pdf" TargetMode="External"/><Relationship Id="rId2" Type="http://schemas.openxmlformats.org/officeDocument/2006/relationships/hyperlink" Target="https://doi.org/10.1002/ijgo.15309"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00485" y="452120"/>
            <a:ext cx="3352375" cy="3066507"/>
          </a:xfrm>
        </p:spPr>
        <p:txBody>
          <a:bodyPr>
            <a:normAutofit/>
          </a:bodyPr>
          <a:lstStyle/>
          <a:p>
            <a:r>
              <a:rPr lang="en-US" sz="6000" b="1" dirty="0">
                <a:solidFill>
                  <a:srgbClr val="EBEBEB"/>
                </a:solidFill>
              </a:rPr>
              <a:t>FinOclik</a:t>
            </a:r>
          </a:p>
        </p:txBody>
      </p:sp>
      <p:sp>
        <p:nvSpPr>
          <p:cNvPr id="3" name="Subtitle 2"/>
          <p:cNvSpPr>
            <a:spLocks noGrp="1"/>
          </p:cNvSpPr>
          <p:nvPr>
            <p:ph type="subTitle" idx="1"/>
          </p:nvPr>
        </p:nvSpPr>
        <p:spPr>
          <a:xfrm>
            <a:off x="9889528" y="6050858"/>
            <a:ext cx="3352375" cy="1621508"/>
          </a:xfrm>
        </p:spPr>
        <p:txBody>
          <a:bodyPr>
            <a:normAutofit/>
          </a:bodyPr>
          <a:lstStyle/>
          <a:p>
            <a:r>
              <a:rPr lang="en-US" sz="4000" b="1" dirty="0">
                <a:solidFill>
                  <a:schemeClr val="tx2">
                    <a:lumMod val="40000"/>
                    <a:lumOff val="60000"/>
                  </a:schemeClr>
                </a:solidFill>
              </a:rPr>
              <a:t>Team a1</a:t>
            </a:r>
            <a:r>
              <a:rPr lang="en-US" sz="3600" b="1" dirty="0">
                <a:solidFill>
                  <a:schemeClr val="tx2">
                    <a:lumMod val="40000"/>
                    <a:lumOff val="60000"/>
                  </a:schemeClr>
                </a:solidFill>
              </a:rPr>
              <a:t> </a:t>
            </a:r>
            <a:endParaRPr lang="en-US" sz="3600">
              <a:solidFill>
                <a:schemeClr val="tx2">
                  <a:lumMod val="40000"/>
                  <a:lumOff val="60000"/>
                </a:schemeClr>
              </a:solidFill>
            </a:endParaRPr>
          </a:p>
        </p:txBody>
      </p:sp>
      <p:sp>
        <p:nvSpPr>
          <p:cNvPr id="21"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Rectangle 24">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4" name="Picture 3">
            <a:extLst>
              <a:ext uri="{FF2B5EF4-FFF2-40B4-BE49-F238E27FC236}">
                <a16:creationId xmlns:a16="http://schemas.microsoft.com/office/drawing/2014/main" id="{83BEF7EF-78E1-FE66-9A92-4BF4AA68E090}"/>
              </a:ext>
            </a:extLst>
          </p:cNvPr>
          <p:cNvPicPr>
            <a:picLocks noChangeAspect="1"/>
          </p:cNvPicPr>
          <p:nvPr/>
        </p:nvPicPr>
        <p:blipFill>
          <a:blip r:embed="rId2"/>
          <a:stretch>
            <a:fillRect/>
          </a:stretch>
        </p:blipFill>
        <p:spPr>
          <a:xfrm>
            <a:off x="643854" y="716706"/>
            <a:ext cx="6270662" cy="5424123"/>
          </a:xfrm>
          <a:prstGeom prst="rect">
            <a:avLst/>
          </a:prstGeom>
          <a:effectLst/>
        </p:spPr>
      </p:pic>
      <p:sp>
        <p:nvSpPr>
          <p:cNvPr id="5" name="TextBox 4">
            <a:extLst>
              <a:ext uri="{FF2B5EF4-FFF2-40B4-BE49-F238E27FC236}">
                <a16:creationId xmlns:a16="http://schemas.microsoft.com/office/drawing/2014/main" id="{83FABF74-F6EE-602E-D0F4-574842F5EEDF}"/>
              </a:ext>
            </a:extLst>
          </p:cNvPr>
          <p:cNvSpPr txBox="1"/>
          <p:nvPr/>
        </p:nvSpPr>
        <p:spPr>
          <a:xfrm>
            <a:off x="9444307" y="3479482"/>
            <a:ext cx="256818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chemeClr val="bg1"/>
                </a:solidFill>
              </a:rPr>
              <a:t>Finance on Finger Clicks</a:t>
            </a:r>
          </a:p>
        </p:txBody>
      </p:sp>
      <p:sp>
        <p:nvSpPr>
          <p:cNvPr id="6" name="Slide Number Placeholder 5">
            <a:extLst>
              <a:ext uri="{FF2B5EF4-FFF2-40B4-BE49-F238E27FC236}">
                <a16:creationId xmlns:a16="http://schemas.microsoft.com/office/drawing/2014/main" id="{D064359E-F8F3-121E-6652-2381C833CDC2}"/>
              </a:ext>
            </a:extLst>
          </p:cNvPr>
          <p:cNvSpPr>
            <a:spLocks noGrp="1"/>
          </p:cNvSpPr>
          <p:nvPr>
            <p:ph type="sldNum" sz="quarter" idx="12"/>
          </p:nvPr>
        </p:nvSpPr>
        <p:spPr/>
        <p:txBody>
          <a:bodyPr/>
          <a:lstStyle/>
          <a:p>
            <a:fld id="{D57F1E4F-1CFF-5643-939E-02111984F565}" type="slidenum">
              <a:rPr lang="en-US" dirty="0"/>
              <a:t>1</a:t>
            </a:fld>
            <a:endParaRPr lang="en-US"/>
          </a:p>
        </p:txBody>
      </p:sp>
    </p:spTree>
    <p:extLst>
      <p:ext uri="{BB962C8B-B14F-4D97-AF65-F5344CB8AC3E}">
        <p14:creationId xmlns:p14="http://schemas.microsoft.com/office/powerpoint/2010/main" val="10985722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A8B043E-918D-F8BF-A3C4-0B43FF732E32}"/>
              </a:ext>
            </a:extLst>
          </p:cNvPr>
          <p:cNvSpPr>
            <a:spLocks noGrp="1"/>
          </p:cNvSpPr>
          <p:nvPr>
            <p:ph type="title"/>
          </p:nvPr>
        </p:nvSpPr>
        <p:spPr>
          <a:xfrm>
            <a:off x="648930" y="629267"/>
            <a:ext cx="9252154" cy="1016654"/>
          </a:xfrm>
        </p:spPr>
        <p:txBody>
          <a:bodyPr>
            <a:normAutofit/>
          </a:bodyPr>
          <a:lstStyle/>
          <a:p>
            <a:r>
              <a:rPr lang="en-US">
                <a:solidFill>
                  <a:srgbClr val="EBEBEB"/>
                </a:solidFill>
              </a:rPr>
              <a:t>Agenda </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CA"/>
          </a:p>
        </p:txBody>
      </p:sp>
      <p:graphicFrame>
        <p:nvGraphicFramePr>
          <p:cNvPr id="5" name="Content Placeholder 2">
            <a:extLst>
              <a:ext uri="{FF2B5EF4-FFF2-40B4-BE49-F238E27FC236}">
                <a16:creationId xmlns:a16="http://schemas.microsoft.com/office/drawing/2014/main" id="{B5D34676-7F1A-AEA4-C6D7-3E28CDDA9A32}"/>
              </a:ext>
            </a:extLst>
          </p:cNvPr>
          <p:cNvGraphicFramePr>
            <a:graphicFrameLocks noGrp="1"/>
          </p:cNvGraphicFramePr>
          <p:nvPr>
            <p:ph idx="1"/>
            <p:extLst>
              <p:ext uri="{D42A27DB-BD31-4B8C-83A1-F6EECF244321}">
                <p14:modId xmlns:p14="http://schemas.microsoft.com/office/powerpoint/2010/main" val="595447029"/>
              </p:ext>
            </p:extLst>
          </p:nvPr>
        </p:nvGraphicFramePr>
        <p:xfrm>
          <a:off x="693104" y="2898604"/>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4" name="Slide Number Placeholder 183">
            <a:extLst>
              <a:ext uri="{FF2B5EF4-FFF2-40B4-BE49-F238E27FC236}">
                <a16:creationId xmlns:a16="http://schemas.microsoft.com/office/drawing/2014/main" id="{C9F1D9F5-9C52-E10D-DA37-4B4F2FA7E845}"/>
              </a:ext>
            </a:extLst>
          </p:cNvPr>
          <p:cNvSpPr>
            <a:spLocks noGrp="1"/>
          </p:cNvSpPr>
          <p:nvPr>
            <p:ph type="sldNum" sz="quarter" idx="12"/>
          </p:nvPr>
        </p:nvSpPr>
        <p:spPr/>
        <p:txBody>
          <a:bodyPr/>
          <a:lstStyle/>
          <a:p>
            <a:fld id="{D57F1E4F-1CFF-5643-939E-02111984F565}" type="slidenum">
              <a:rPr lang="en-US" dirty="0"/>
              <a:t>2</a:t>
            </a:fld>
            <a:endParaRPr lang="en-US"/>
          </a:p>
        </p:txBody>
      </p:sp>
    </p:spTree>
    <p:extLst>
      <p:ext uri="{BB962C8B-B14F-4D97-AF65-F5344CB8AC3E}">
        <p14:creationId xmlns:p14="http://schemas.microsoft.com/office/powerpoint/2010/main" val="291897252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7898675-FA0B-EB75-FECF-D4661E355AEB}"/>
              </a:ext>
            </a:extLst>
          </p:cNvPr>
          <p:cNvSpPr>
            <a:spLocks noGrp="1"/>
          </p:cNvSpPr>
          <p:nvPr>
            <p:ph type="title"/>
          </p:nvPr>
        </p:nvSpPr>
        <p:spPr>
          <a:xfrm>
            <a:off x="648930" y="629267"/>
            <a:ext cx="9252154" cy="1016654"/>
          </a:xfrm>
        </p:spPr>
        <p:txBody>
          <a:bodyPr>
            <a:normAutofit/>
          </a:bodyPr>
          <a:lstStyle/>
          <a:p>
            <a:pPr algn="ctr"/>
            <a:r>
              <a:rPr lang="en-US" sz="4800" b="1" dirty="0">
                <a:solidFill>
                  <a:srgbClr val="EBEBEB"/>
                </a:solidFill>
              </a:rPr>
              <a:t>What is FinOclik? </a:t>
            </a:r>
            <a:endParaRPr lang="en-US" sz="4800" dirty="0"/>
          </a:p>
        </p:txBody>
      </p:sp>
      <p:sp useBgFill="1">
        <p:nvSpPr>
          <p:cNvPr id="18" name="Freeform: Shape 17">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CA"/>
          </a:p>
        </p:txBody>
      </p:sp>
      <p:sp>
        <p:nvSpPr>
          <p:cNvPr id="3" name="Content Placeholder 2">
            <a:extLst>
              <a:ext uri="{FF2B5EF4-FFF2-40B4-BE49-F238E27FC236}">
                <a16:creationId xmlns:a16="http://schemas.microsoft.com/office/drawing/2014/main" id="{2C0E6692-4BC3-7320-EE65-C13814AC161B}"/>
              </a:ext>
            </a:extLst>
          </p:cNvPr>
          <p:cNvSpPr>
            <a:spLocks noGrp="1"/>
          </p:cNvSpPr>
          <p:nvPr>
            <p:ph idx="1"/>
          </p:nvPr>
        </p:nvSpPr>
        <p:spPr>
          <a:xfrm>
            <a:off x="648931" y="2548281"/>
            <a:ext cx="5122606" cy="3658689"/>
          </a:xfrm>
        </p:spPr>
        <p:txBody>
          <a:bodyPr vert="horz" lIns="91440" tIns="45720" rIns="91440" bIns="45720" rtlCol="0" anchor="t">
            <a:normAutofit/>
          </a:bodyPr>
          <a:lstStyle/>
          <a:p>
            <a:r>
              <a:rPr lang="en-US" dirty="0">
                <a:latin typeface="Aptos"/>
              </a:rPr>
              <a:t>A</a:t>
            </a:r>
            <a:r>
              <a:rPr lang="en-US" dirty="0">
                <a:ea typeface="+mn-lt"/>
                <a:cs typeface="+mn-lt"/>
              </a:rPr>
              <a:t> chatbot for enhancing knowledge in finance and stocks.</a:t>
            </a:r>
            <a:endParaRPr lang="en-US" dirty="0"/>
          </a:p>
          <a:p>
            <a:r>
              <a:rPr lang="en-US" dirty="0">
                <a:ea typeface="+mn-lt"/>
                <a:cs typeface="+mn-lt"/>
              </a:rPr>
              <a:t>Platform where customers can get answers to their financial queries.</a:t>
            </a:r>
            <a:endParaRPr lang="en-US" dirty="0"/>
          </a:p>
          <a:p>
            <a:r>
              <a:rPr lang="en-US" dirty="0">
                <a:latin typeface="Century Gothic" panose="020B0502020202020204"/>
              </a:rPr>
              <a:t>Queries</a:t>
            </a:r>
            <a:r>
              <a:rPr lang="en-US" dirty="0">
                <a:ea typeface="+mn-lt"/>
                <a:cs typeface="+mn-lt"/>
              </a:rPr>
              <a:t> can be related to:</a:t>
            </a:r>
            <a:endParaRPr lang="en-US" dirty="0"/>
          </a:p>
          <a:p>
            <a:pPr lvl="1"/>
            <a:r>
              <a:rPr lang="en-US" dirty="0">
                <a:ea typeface="+mn-lt"/>
                <a:cs typeface="+mn-lt"/>
              </a:rPr>
              <a:t>investment tips</a:t>
            </a:r>
            <a:endParaRPr lang="en-US" dirty="0"/>
          </a:p>
          <a:p>
            <a:pPr lvl="1"/>
            <a:r>
              <a:rPr lang="en-US" dirty="0">
                <a:ea typeface="+mn-lt"/>
                <a:cs typeface="+mn-lt"/>
              </a:rPr>
              <a:t>which stock is giving good returns etc. </a:t>
            </a:r>
            <a:endParaRPr lang="en-US" dirty="0"/>
          </a:p>
          <a:p>
            <a:pPr lvl="1"/>
            <a:endParaRPr lang="en-US" b="1" dirty="0"/>
          </a:p>
          <a:p>
            <a:endParaRPr lang="en-US" dirty="0"/>
          </a:p>
        </p:txBody>
      </p:sp>
      <p:pic>
        <p:nvPicPr>
          <p:cNvPr id="5" name="Picture 4" descr="A glass bowl of coins with a plant growing in it&#10;&#10;Description automatically generated">
            <a:extLst>
              <a:ext uri="{FF2B5EF4-FFF2-40B4-BE49-F238E27FC236}">
                <a16:creationId xmlns:a16="http://schemas.microsoft.com/office/drawing/2014/main" id="{613E6C57-FD7C-D46C-AF37-66E9BD86E4E3}"/>
              </a:ext>
            </a:extLst>
          </p:cNvPr>
          <p:cNvPicPr>
            <a:picLocks noChangeAspect="1"/>
          </p:cNvPicPr>
          <p:nvPr/>
        </p:nvPicPr>
        <p:blipFill>
          <a:blip r:embed="rId2"/>
          <a:stretch>
            <a:fillRect/>
          </a:stretch>
        </p:blipFill>
        <p:spPr>
          <a:xfrm>
            <a:off x="6096000" y="2476884"/>
            <a:ext cx="5764567" cy="3992879"/>
          </a:xfrm>
          <a:prstGeom prst="rect">
            <a:avLst/>
          </a:prstGeom>
          <a:effectLst/>
        </p:spPr>
      </p:pic>
      <p:sp>
        <p:nvSpPr>
          <p:cNvPr id="4" name="Slide Number Placeholder 3">
            <a:extLst>
              <a:ext uri="{FF2B5EF4-FFF2-40B4-BE49-F238E27FC236}">
                <a16:creationId xmlns:a16="http://schemas.microsoft.com/office/drawing/2014/main" id="{A3D18343-0608-DA22-8352-DB0FD8A4D616}"/>
              </a:ext>
            </a:extLst>
          </p:cNvPr>
          <p:cNvSpPr>
            <a:spLocks noGrp="1"/>
          </p:cNvSpPr>
          <p:nvPr>
            <p:ph type="sldNum" sz="quarter" idx="12"/>
          </p:nvPr>
        </p:nvSpPr>
        <p:spPr/>
        <p:txBody>
          <a:bodyPr/>
          <a:lstStyle/>
          <a:p>
            <a:fld id="{D57F1E4F-1CFF-5643-939E-02111984F565}" type="slidenum">
              <a:rPr lang="en-US" dirty="0"/>
              <a:t>3</a:t>
            </a:fld>
            <a:endParaRPr lang="en-US"/>
          </a:p>
        </p:txBody>
      </p:sp>
    </p:spTree>
    <p:extLst>
      <p:ext uri="{BB962C8B-B14F-4D97-AF65-F5344CB8AC3E}">
        <p14:creationId xmlns:p14="http://schemas.microsoft.com/office/powerpoint/2010/main" val="18164306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4" name="Picture 3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3" name="Oval 4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45" name="Picture 4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7" name="Picture 4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2" name="Rectangle 4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44" name="Rectangle 43">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0944C1-600A-90B6-3D02-CCB883A6304E}"/>
              </a:ext>
            </a:extLst>
          </p:cNvPr>
          <p:cNvSpPr>
            <a:spLocks noGrp="1"/>
          </p:cNvSpPr>
          <p:nvPr>
            <p:ph type="title"/>
          </p:nvPr>
        </p:nvSpPr>
        <p:spPr>
          <a:xfrm>
            <a:off x="8191925" y="1325880"/>
            <a:ext cx="3615376" cy="3066507"/>
          </a:xfrm>
        </p:spPr>
        <p:txBody>
          <a:bodyPr vert="horz" lIns="91440" tIns="45720" rIns="91440" bIns="45720" rtlCol="0" anchor="b">
            <a:normAutofit/>
          </a:bodyPr>
          <a:lstStyle/>
          <a:p>
            <a:pPr algn="ctr"/>
            <a:r>
              <a:rPr lang="en-US" sz="5400" b="1" dirty="0">
                <a:solidFill>
                  <a:srgbClr val="EBEBEB"/>
                </a:solidFill>
              </a:rPr>
              <a:t>Why</a:t>
            </a:r>
            <a:br>
              <a:rPr lang="en-US" sz="5400" b="1" dirty="0">
                <a:solidFill>
                  <a:srgbClr val="EBEBEB"/>
                </a:solidFill>
              </a:rPr>
            </a:br>
            <a:r>
              <a:rPr lang="en-US" sz="5400" b="1" i="0" kern="1200" dirty="0" err="1">
                <a:solidFill>
                  <a:srgbClr val="EBEBEB"/>
                </a:solidFill>
                <a:latin typeface="+mj-lt"/>
                <a:ea typeface="+mj-ea"/>
                <a:cs typeface="+mj-cs"/>
              </a:rPr>
              <a:t>FinOclik</a:t>
            </a:r>
            <a:r>
              <a:rPr lang="en-US" sz="5400" b="1" i="0" kern="1200" dirty="0">
                <a:solidFill>
                  <a:srgbClr val="EBEBEB"/>
                </a:solidFill>
                <a:latin typeface="+mj-lt"/>
                <a:ea typeface="+mj-ea"/>
                <a:cs typeface="+mj-cs"/>
              </a:rPr>
              <a:t> is useful?</a:t>
            </a:r>
          </a:p>
        </p:txBody>
      </p:sp>
      <p:sp>
        <p:nvSpPr>
          <p:cNvPr id="46"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8" name="Freeform: Shape 47">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Rectangle 49">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Slide Number Placeholder 2">
            <a:extLst>
              <a:ext uri="{FF2B5EF4-FFF2-40B4-BE49-F238E27FC236}">
                <a16:creationId xmlns:a16="http://schemas.microsoft.com/office/drawing/2014/main" id="{8DE1E99D-49B9-57A3-7D48-705B2A3129EC}"/>
              </a:ext>
            </a:extLst>
          </p:cNvPr>
          <p:cNvSpPr>
            <a:spLocks noGrp="1"/>
          </p:cNvSpPr>
          <p:nvPr>
            <p:ph type="sldNum" sz="quarter" idx="12"/>
          </p:nvPr>
        </p:nvSpPr>
        <p:spPr/>
        <p:txBody>
          <a:bodyPr/>
          <a:lstStyle/>
          <a:p>
            <a:fld id="{D57F1E4F-1CFF-5643-939E-02111984F565}" type="slidenum">
              <a:rPr lang="en-US" dirty="0"/>
              <a:t>4</a:t>
            </a:fld>
            <a:endParaRPr lang="en-US"/>
          </a:p>
        </p:txBody>
      </p:sp>
      <p:graphicFrame>
        <p:nvGraphicFramePr>
          <p:cNvPr id="52" name="Content Placeholder 6">
            <a:extLst>
              <a:ext uri="{FF2B5EF4-FFF2-40B4-BE49-F238E27FC236}">
                <a16:creationId xmlns:a16="http://schemas.microsoft.com/office/drawing/2014/main" id="{1A27BE92-12D1-B848-7C3C-737B5216DAE6}"/>
              </a:ext>
            </a:extLst>
          </p:cNvPr>
          <p:cNvGraphicFramePr>
            <a:graphicFrameLocks noGrp="1"/>
          </p:cNvGraphicFramePr>
          <p:nvPr>
            <p:ph idx="1"/>
            <p:extLst>
              <p:ext uri="{D42A27DB-BD31-4B8C-83A1-F6EECF244321}">
                <p14:modId xmlns:p14="http://schemas.microsoft.com/office/powerpoint/2010/main" val="1295599043"/>
              </p:ext>
            </p:extLst>
          </p:nvPr>
        </p:nvGraphicFramePr>
        <p:xfrm>
          <a:off x="208791" y="683527"/>
          <a:ext cx="7091236" cy="539921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6044923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A95EF9-F93F-5818-5C28-84C1B8D8A117}"/>
              </a:ext>
            </a:extLst>
          </p:cNvPr>
          <p:cNvSpPr>
            <a:spLocks noGrp="1"/>
          </p:cNvSpPr>
          <p:nvPr>
            <p:ph type="title"/>
          </p:nvPr>
        </p:nvSpPr>
        <p:spPr/>
        <p:txBody>
          <a:bodyPr/>
          <a:lstStyle/>
          <a:p>
            <a:r>
              <a:rPr lang="en-US" dirty="0"/>
              <a:t>Where our product stands?</a:t>
            </a:r>
            <a:endParaRPr lang="en-IN" dirty="0"/>
          </a:p>
        </p:txBody>
      </p:sp>
      <p:sp>
        <p:nvSpPr>
          <p:cNvPr id="6" name="AutoShape 2" descr="38 Chatbot Statistics For 2023">
            <a:extLst>
              <a:ext uri="{FF2B5EF4-FFF2-40B4-BE49-F238E27FC236}">
                <a16:creationId xmlns:a16="http://schemas.microsoft.com/office/drawing/2014/main" id="{16CC6246-B53E-6AC3-3F0E-53305F49E77D}"/>
              </a:ext>
            </a:extLst>
          </p:cNvPr>
          <p:cNvSpPr>
            <a:spLocks noChangeAspect="1" noChangeArrowheads="1"/>
          </p:cNvSpPr>
          <p:nvPr/>
        </p:nvSpPr>
        <p:spPr bwMode="auto">
          <a:xfrm>
            <a:off x="646111" y="1727447"/>
            <a:ext cx="10086992" cy="42205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6B244AA7-5950-839E-0699-F6A97917B145}"/>
              </a:ext>
            </a:extLst>
          </p:cNvPr>
          <p:cNvPicPr>
            <a:picLocks noChangeAspect="1"/>
          </p:cNvPicPr>
          <p:nvPr/>
        </p:nvPicPr>
        <p:blipFill>
          <a:blip r:embed="rId3"/>
          <a:stretch>
            <a:fillRect/>
          </a:stretch>
        </p:blipFill>
        <p:spPr>
          <a:xfrm>
            <a:off x="0" y="1360872"/>
            <a:ext cx="12192000" cy="541278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TextBox 1">
            <a:extLst>
              <a:ext uri="{FF2B5EF4-FFF2-40B4-BE49-F238E27FC236}">
                <a16:creationId xmlns:a16="http://schemas.microsoft.com/office/drawing/2014/main" id="{15E94FBE-9B05-A572-E5E3-FCF36C4FA7E1}"/>
              </a:ext>
            </a:extLst>
          </p:cNvPr>
          <p:cNvSpPr txBox="1"/>
          <p:nvPr/>
        </p:nvSpPr>
        <p:spPr>
          <a:xfrm>
            <a:off x="835980" y="6125508"/>
            <a:ext cx="10520039" cy="369332"/>
          </a:xfrm>
          <a:prstGeom prst="rect">
            <a:avLst/>
          </a:prstGeom>
          <a:noFill/>
        </p:spPr>
        <p:txBody>
          <a:bodyPr wrap="square" rtlCol="0">
            <a:spAutoFit/>
          </a:bodyPr>
          <a:lstStyle/>
          <a:p>
            <a:r>
              <a:rPr lang="en-US" sz="1800" dirty="0">
                <a:effectLst/>
                <a:hlinkClick r:id="rId4"/>
              </a:rPr>
              <a:t>https://mindster.com/mindster-blogs/the-rise-of-chatbot-banking-understanding-its-potential/</a:t>
            </a:r>
            <a:r>
              <a:rPr lang="en-US" sz="1800" dirty="0">
                <a:effectLst/>
              </a:rPr>
              <a:t> </a:t>
            </a:r>
            <a:endParaRPr lang="en-IN" dirty="0"/>
          </a:p>
        </p:txBody>
      </p:sp>
      <p:sp>
        <p:nvSpPr>
          <p:cNvPr id="3" name="Slide Number Placeholder 2">
            <a:extLst>
              <a:ext uri="{FF2B5EF4-FFF2-40B4-BE49-F238E27FC236}">
                <a16:creationId xmlns:a16="http://schemas.microsoft.com/office/drawing/2014/main" id="{5091610E-A887-CE2C-8A86-BE6036B5099B}"/>
              </a:ext>
            </a:extLst>
          </p:cNvPr>
          <p:cNvSpPr>
            <a:spLocks noGrp="1"/>
          </p:cNvSpPr>
          <p:nvPr>
            <p:ph type="sldNum" sz="quarter" idx="12"/>
          </p:nvPr>
        </p:nvSpPr>
        <p:spPr/>
        <p:txBody>
          <a:bodyPr/>
          <a:lstStyle/>
          <a:p>
            <a:fld id="{D57F1E4F-1CFF-5643-939E-02111984F565}" type="slidenum">
              <a:rPr lang="en-US" dirty="0"/>
              <a:t>5</a:t>
            </a:fld>
            <a:endParaRPr lang="en-US"/>
          </a:p>
        </p:txBody>
      </p:sp>
    </p:spTree>
    <p:extLst>
      <p:ext uri="{BB962C8B-B14F-4D97-AF65-F5344CB8AC3E}">
        <p14:creationId xmlns:p14="http://schemas.microsoft.com/office/powerpoint/2010/main" val="3202553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A95EF9-F93F-5818-5C28-84C1B8D8A117}"/>
              </a:ext>
            </a:extLst>
          </p:cNvPr>
          <p:cNvSpPr>
            <a:spLocks noGrp="1"/>
          </p:cNvSpPr>
          <p:nvPr>
            <p:ph type="title"/>
          </p:nvPr>
        </p:nvSpPr>
        <p:spPr/>
        <p:txBody>
          <a:bodyPr/>
          <a:lstStyle/>
          <a:p>
            <a:r>
              <a:rPr lang="en-US" dirty="0"/>
              <a:t>Where our product stands?</a:t>
            </a:r>
            <a:endParaRPr lang="en-IN" dirty="0"/>
          </a:p>
        </p:txBody>
      </p:sp>
      <p:sp>
        <p:nvSpPr>
          <p:cNvPr id="6" name="AutoShape 2" descr="38 Chatbot Statistics For 2023">
            <a:extLst>
              <a:ext uri="{FF2B5EF4-FFF2-40B4-BE49-F238E27FC236}">
                <a16:creationId xmlns:a16="http://schemas.microsoft.com/office/drawing/2014/main" id="{16CC6246-B53E-6AC3-3F0E-53305F49E77D}"/>
              </a:ext>
            </a:extLst>
          </p:cNvPr>
          <p:cNvSpPr>
            <a:spLocks noChangeAspect="1" noChangeArrowheads="1"/>
          </p:cNvSpPr>
          <p:nvPr/>
        </p:nvSpPr>
        <p:spPr bwMode="auto">
          <a:xfrm>
            <a:off x="646111" y="1727447"/>
            <a:ext cx="10086992" cy="42205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6B244AA7-5950-839E-0699-F6A97917B145}"/>
              </a:ext>
            </a:extLst>
          </p:cNvPr>
          <p:cNvPicPr>
            <a:picLocks noChangeAspect="1"/>
          </p:cNvPicPr>
          <p:nvPr/>
        </p:nvPicPr>
        <p:blipFill>
          <a:blip r:embed="rId2"/>
          <a:stretch>
            <a:fillRect/>
          </a:stretch>
        </p:blipFill>
        <p:spPr>
          <a:xfrm>
            <a:off x="0" y="1365312"/>
            <a:ext cx="12192000" cy="541278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cxnSp>
        <p:nvCxnSpPr>
          <p:cNvPr id="3" name="Straight Arrow Connector 2">
            <a:extLst>
              <a:ext uri="{FF2B5EF4-FFF2-40B4-BE49-F238E27FC236}">
                <a16:creationId xmlns:a16="http://schemas.microsoft.com/office/drawing/2014/main" id="{40AA043F-E08A-CB14-EC01-5D1C2C5D5957}"/>
              </a:ext>
            </a:extLst>
          </p:cNvPr>
          <p:cNvCxnSpPr>
            <a:cxnSpLocks/>
            <a:stCxn id="8" idx="4"/>
          </p:cNvCxnSpPr>
          <p:nvPr/>
        </p:nvCxnSpPr>
        <p:spPr>
          <a:xfrm flipH="1">
            <a:off x="10733103" y="2980679"/>
            <a:ext cx="760260" cy="9388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Oval 7">
            <a:extLst>
              <a:ext uri="{FF2B5EF4-FFF2-40B4-BE49-F238E27FC236}">
                <a16:creationId xmlns:a16="http://schemas.microsoft.com/office/drawing/2014/main" id="{BB4D1592-388D-BE0B-51B4-E155808F6BF8}"/>
              </a:ext>
            </a:extLst>
          </p:cNvPr>
          <p:cNvSpPr/>
          <p:nvPr/>
        </p:nvSpPr>
        <p:spPr>
          <a:xfrm>
            <a:off x="10851952" y="2041866"/>
            <a:ext cx="1282822" cy="938813"/>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b="1" dirty="0"/>
              <a:t>Personal assistance</a:t>
            </a:r>
            <a:endParaRPr lang="en-IN" sz="1050" b="1" dirty="0"/>
          </a:p>
        </p:txBody>
      </p:sp>
      <p:sp>
        <p:nvSpPr>
          <p:cNvPr id="12" name="TextBox 11">
            <a:extLst>
              <a:ext uri="{FF2B5EF4-FFF2-40B4-BE49-F238E27FC236}">
                <a16:creationId xmlns:a16="http://schemas.microsoft.com/office/drawing/2014/main" id="{BC85F91F-3A44-0118-4ABB-DB0CB53F336A}"/>
              </a:ext>
            </a:extLst>
          </p:cNvPr>
          <p:cNvSpPr txBox="1"/>
          <p:nvPr/>
        </p:nvSpPr>
        <p:spPr>
          <a:xfrm>
            <a:off x="835980" y="6125508"/>
            <a:ext cx="10520039" cy="369332"/>
          </a:xfrm>
          <a:prstGeom prst="rect">
            <a:avLst/>
          </a:prstGeom>
          <a:noFill/>
        </p:spPr>
        <p:txBody>
          <a:bodyPr wrap="square" rtlCol="0">
            <a:spAutoFit/>
          </a:bodyPr>
          <a:lstStyle/>
          <a:p>
            <a:r>
              <a:rPr lang="en-US" sz="1800" dirty="0">
                <a:effectLst/>
                <a:hlinkClick r:id="rId3"/>
              </a:rPr>
              <a:t>https://mindster.com/mindster-blogs/the-rise-of-chatbot-banking-understanding-its-potential/</a:t>
            </a:r>
            <a:r>
              <a:rPr lang="en-US" sz="1800" dirty="0">
                <a:effectLst/>
              </a:rPr>
              <a:t> </a:t>
            </a:r>
            <a:endParaRPr lang="en-IN" dirty="0"/>
          </a:p>
        </p:txBody>
      </p:sp>
      <p:sp>
        <p:nvSpPr>
          <p:cNvPr id="2" name="Slide Number Placeholder 1">
            <a:extLst>
              <a:ext uri="{FF2B5EF4-FFF2-40B4-BE49-F238E27FC236}">
                <a16:creationId xmlns:a16="http://schemas.microsoft.com/office/drawing/2014/main" id="{6E7D9150-8959-6163-CD0E-6E90912B4397}"/>
              </a:ext>
            </a:extLst>
          </p:cNvPr>
          <p:cNvSpPr>
            <a:spLocks noGrp="1"/>
          </p:cNvSpPr>
          <p:nvPr>
            <p:ph type="sldNum" sz="quarter" idx="12"/>
          </p:nvPr>
        </p:nvSpPr>
        <p:spPr/>
        <p:txBody>
          <a:bodyPr/>
          <a:lstStyle/>
          <a:p>
            <a:fld id="{D57F1E4F-1CFF-5643-939E-02111984F565}" type="slidenum">
              <a:rPr lang="en-US" dirty="0"/>
              <a:t>6</a:t>
            </a:fld>
            <a:endParaRPr lang="en-US"/>
          </a:p>
        </p:txBody>
      </p:sp>
    </p:spTree>
    <p:extLst>
      <p:ext uri="{BB962C8B-B14F-4D97-AF65-F5344CB8AC3E}">
        <p14:creationId xmlns:p14="http://schemas.microsoft.com/office/powerpoint/2010/main" val="1013751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18735C9-9F73-BDDD-2108-2A4B35157B5E}"/>
              </a:ext>
            </a:extLst>
          </p:cNvPr>
          <p:cNvSpPr>
            <a:spLocks noGrp="1"/>
          </p:cNvSpPr>
          <p:nvPr>
            <p:ph type="title"/>
          </p:nvPr>
        </p:nvSpPr>
        <p:spPr>
          <a:xfrm>
            <a:off x="648930" y="629267"/>
            <a:ext cx="9252154" cy="1016654"/>
          </a:xfrm>
        </p:spPr>
        <p:txBody>
          <a:bodyPr>
            <a:normAutofit/>
          </a:bodyPr>
          <a:lstStyle/>
          <a:p>
            <a:r>
              <a:rPr lang="en-US" dirty="0">
                <a:solidFill>
                  <a:srgbClr val="EBEBEB"/>
                </a:solidFill>
              </a:rPr>
              <a:t>Target customers</a:t>
            </a:r>
          </a:p>
        </p:txBody>
      </p:sp>
      <p:sp useBgFill="1">
        <p:nvSpPr>
          <p:cNvPr id="15" name="Freeform: Shape 14">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CA"/>
          </a:p>
        </p:txBody>
      </p:sp>
      <p:sp>
        <p:nvSpPr>
          <p:cNvPr id="3" name="Content Placeholder 2">
            <a:extLst>
              <a:ext uri="{FF2B5EF4-FFF2-40B4-BE49-F238E27FC236}">
                <a16:creationId xmlns:a16="http://schemas.microsoft.com/office/drawing/2014/main" id="{AC9EADF4-D8A5-93E4-1241-061416E9D8A7}"/>
              </a:ext>
            </a:extLst>
          </p:cNvPr>
          <p:cNvSpPr>
            <a:spLocks noGrp="1"/>
          </p:cNvSpPr>
          <p:nvPr>
            <p:ph idx="1"/>
          </p:nvPr>
        </p:nvSpPr>
        <p:spPr>
          <a:xfrm>
            <a:off x="648931" y="2548281"/>
            <a:ext cx="5122606" cy="3658689"/>
          </a:xfrm>
        </p:spPr>
        <p:txBody>
          <a:bodyPr vert="horz" lIns="91440" tIns="45720" rIns="91440" bIns="45720" rtlCol="0" anchor="t">
            <a:normAutofit/>
          </a:bodyPr>
          <a:lstStyle/>
          <a:p>
            <a:pPr>
              <a:buFont typeface="Wingdings 3"/>
            </a:pPr>
            <a:r>
              <a:rPr lang="en-US" b="1" dirty="0">
                <a:latin typeface="Century Gothic"/>
              </a:rPr>
              <a:t>People</a:t>
            </a:r>
            <a:r>
              <a:rPr lang="en-US" b="1" dirty="0"/>
              <a:t> who want to learn about financial market and be able to start building financial independence. </a:t>
            </a:r>
            <a:endParaRPr lang="en-US" dirty="0"/>
          </a:p>
          <a:p>
            <a:pPr>
              <a:buClr>
                <a:srgbClr val="8AD0D6"/>
              </a:buClr>
            </a:pPr>
            <a:r>
              <a:rPr lang="en-US" b="1" dirty="0">
                <a:latin typeface="Century Gothic"/>
              </a:rPr>
              <a:t>customers</a:t>
            </a:r>
            <a:r>
              <a:rPr lang="en-US" b="1" dirty="0"/>
              <a:t> who want to: </a:t>
            </a:r>
            <a:endParaRPr lang="en-US" dirty="0"/>
          </a:p>
          <a:p>
            <a:pPr lvl="1">
              <a:buClr>
                <a:srgbClr val="8AD0D6"/>
              </a:buClr>
              <a:buFont typeface="Courier New" charset="2"/>
              <a:buChar char="o"/>
            </a:pPr>
            <a:r>
              <a:rPr lang="en-US" b="1" dirty="0">
                <a:latin typeface="Century Gothic"/>
                <a:cs typeface="Courier New"/>
              </a:rPr>
              <a:t>earn</a:t>
            </a:r>
            <a:r>
              <a:rPr lang="en-US" b="1" dirty="0"/>
              <a:t> some additional earnings. </a:t>
            </a:r>
            <a:endParaRPr lang="en-US" dirty="0"/>
          </a:p>
          <a:p>
            <a:pPr lvl="1">
              <a:buClr>
                <a:srgbClr val="8AD0D6"/>
              </a:buClr>
              <a:buFont typeface="Courier New" charset="2"/>
              <a:buChar char="o"/>
            </a:pPr>
            <a:r>
              <a:rPr lang="en-US" b="1" dirty="0">
                <a:latin typeface="Century Gothic"/>
                <a:cs typeface="Courier New"/>
              </a:rPr>
              <a:t>invest</a:t>
            </a:r>
            <a:r>
              <a:rPr lang="en-US" b="1" dirty="0"/>
              <a:t> in the market but don’t have idea where to start from. </a:t>
            </a:r>
            <a:endParaRPr lang="en-US" dirty="0"/>
          </a:p>
          <a:p>
            <a:pPr lvl="1">
              <a:buClr>
                <a:srgbClr val="8AD0D6"/>
              </a:buClr>
              <a:buFont typeface="Courier New" charset="2"/>
              <a:buChar char="o"/>
            </a:pPr>
            <a:r>
              <a:rPr lang="en-US" b="1" dirty="0">
                <a:latin typeface="Century Gothic"/>
                <a:cs typeface="Courier New"/>
              </a:rPr>
              <a:t> have a first-hand advice before seeing a financial advisor.</a:t>
            </a:r>
            <a:endParaRPr lang="en-US" dirty="0"/>
          </a:p>
          <a:p>
            <a:pPr>
              <a:buClr>
                <a:srgbClr val="8AD0D6"/>
              </a:buClr>
            </a:pPr>
            <a:endParaRPr lang="en-US" dirty="0"/>
          </a:p>
        </p:txBody>
      </p:sp>
      <p:pic>
        <p:nvPicPr>
          <p:cNvPr id="4" name="Picture 3" descr="A hand holding a magnifying glass over a map with icons&#10;&#10;Description automatically generated">
            <a:extLst>
              <a:ext uri="{FF2B5EF4-FFF2-40B4-BE49-F238E27FC236}">
                <a16:creationId xmlns:a16="http://schemas.microsoft.com/office/drawing/2014/main" id="{74232257-E381-F612-E073-99C1B8EA6D66}"/>
              </a:ext>
            </a:extLst>
          </p:cNvPr>
          <p:cNvPicPr>
            <a:picLocks noChangeAspect="1"/>
          </p:cNvPicPr>
          <p:nvPr/>
        </p:nvPicPr>
        <p:blipFill>
          <a:blip r:embed="rId2"/>
          <a:stretch>
            <a:fillRect/>
          </a:stretch>
        </p:blipFill>
        <p:spPr>
          <a:xfrm>
            <a:off x="6256878" y="2548281"/>
            <a:ext cx="5121703" cy="3662018"/>
          </a:xfrm>
          <a:prstGeom prst="rect">
            <a:avLst/>
          </a:prstGeom>
          <a:effectLst/>
        </p:spPr>
      </p:pic>
      <p:sp>
        <p:nvSpPr>
          <p:cNvPr id="5" name="Slide Number Placeholder 4">
            <a:extLst>
              <a:ext uri="{FF2B5EF4-FFF2-40B4-BE49-F238E27FC236}">
                <a16:creationId xmlns:a16="http://schemas.microsoft.com/office/drawing/2014/main" id="{FD54290D-6F27-1C81-5DA0-D303B3C85A60}"/>
              </a:ext>
            </a:extLst>
          </p:cNvPr>
          <p:cNvSpPr>
            <a:spLocks noGrp="1"/>
          </p:cNvSpPr>
          <p:nvPr>
            <p:ph type="sldNum" sz="quarter" idx="12"/>
          </p:nvPr>
        </p:nvSpPr>
        <p:spPr/>
        <p:txBody>
          <a:bodyPr/>
          <a:lstStyle/>
          <a:p>
            <a:fld id="{D57F1E4F-1CFF-5643-939E-02111984F565}" type="slidenum">
              <a:rPr lang="en-US" dirty="0"/>
              <a:t>7</a:t>
            </a:fld>
            <a:endParaRPr lang="en-US"/>
          </a:p>
        </p:txBody>
      </p:sp>
    </p:spTree>
    <p:extLst>
      <p:ext uri="{BB962C8B-B14F-4D97-AF65-F5344CB8AC3E}">
        <p14:creationId xmlns:p14="http://schemas.microsoft.com/office/powerpoint/2010/main" val="294338192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0DB27B58-E4F6-3191-935D-7E2D0BDFC79E}"/>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8</a:t>
            </a:fld>
            <a:endParaRPr lang="en-US">
              <a:solidFill>
                <a:srgbClr val="FFFFFF"/>
              </a:solidFill>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884916AE-263B-5D6E-473B-102BAFE00331}"/>
              </a:ext>
            </a:extLst>
          </p:cNvPr>
          <p:cNvSpPr>
            <a:spLocks noGrp="1"/>
          </p:cNvSpPr>
          <p:nvPr>
            <p:ph type="title"/>
          </p:nvPr>
        </p:nvSpPr>
        <p:spPr>
          <a:xfrm>
            <a:off x="1103312" y="452718"/>
            <a:ext cx="8947522" cy="1400530"/>
          </a:xfrm>
        </p:spPr>
        <p:txBody>
          <a:bodyPr anchor="ctr">
            <a:normAutofit/>
          </a:bodyPr>
          <a:lstStyle/>
          <a:p>
            <a:r>
              <a:rPr lang="en-CA" dirty="0">
                <a:solidFill>
                  <a:srgbClr val="FFFFFF"/>
                </a:solidFill>
              </a:rPr>
              <a:t>Source/reference:</a:t>
            </a:r>
          </a:p>
        </p:txBody>
      </p:sp>
      <p:sp>
        <p:nvSpPr>
          <p:cNvPr id="3" name="Content Placeholder 2">
            <a:extLst>
              <a:ext uri="{FF2B5EF4-FFF2-40B4-BE49-F238E27FC236}">
                <a16:creationId xmlns:a16="http://schemas.microsoft.com/office/drawing/2014/main" id="{B0396210-0194-23CC-2A3D-0F75BF3E1EBD}"/>
              </a:ext>
            </a:extLst>
          </p:cNvPr>
          <p:cNvSpPr>
            <a:spLocks noGrp="1"/>
          </p:cNvSpPr>
          <p:nvPr>
            <p:ph idx="1"/>
          </p:nvPr>
        </p:nvSpPr>
        <p:spPr>
          <a:xfrm>
            <a:off x="762593" y="2331967"/>
            <a:ext cx="10666813" cy="4685606"/>
          </a:xfrm>
        </p:spPr>
        <p:txBody>
          <a:bodyPr vert="horz" lIns="91440" tIns="45720" rIns="91440" bIns="45720" rtlCol="0" anchor="t">
            <a:normAutofit lnSpcReduction="10000"/>
          </a:bodyPr>
          <a:lstStyle/>
          <a:p>
            <a:pPr>
              <a:lnSpc>
                <a:spcPct val="90000"/>
              </a:lnSpc>
            </a:pPr>
            <a:r>
              <a:rPr lang="en-US" sz="1400" b="1" i="1" dirty="0">
                <a:effectLst/>
                <a:latin typeface="Garamond"/>
              </a:rPr>
              <a:t>North America Chatbot Market: Ankitha </a:t>
            </a:r>
            <a:r>
              <a:rPr lang="en-US" sz="1400" b="1" i="1" dirty="0" err="1">
                <a:effectLst/>
                <a:latin typeface="Garamond"/>
              </a:rPr>
              <a:t>PrasannanAnkitha</a:t>
            </a:r>
            <a:r>
              <a:rPr lang="en-US" sz="1400" b="1" i="1" dirty="0">
                <a:effectLst/>
                <a:latin typeface="Garamond"/>
              </a:rPr>
              <a:t> is a professional content writer with more than four years of experience. She writes blogs relevant to the services that we provide and also about the various mobile app solutions that we provide. With strong research skills and c. (2023, November 22). The rise of chatbot banking: Understanding its potential</a:t>
            </a:r>
            <a:r>
              <a:rPr lang="en-US" sz="1400" b="1" dirty="0">
                <a:effectLst/>
                <a:latin typeface="Garamond"/>
              </a:rPr>
              <a:t>. </a:t>
            </a:r>
            <a:r>
              <a:rPr lang="en-US" sz="1400" b="1" dirty="0" err="1">
                <a:effectLst/>
                <a:latin typeface="Garamond"/>
              </a:rPr>
              <a:t>Mindster</a:t>
            </a:r>
            <a:r>
              <a:rPr lang="en-US" sz="1400" b="1" dirty="0">
                <a:effectLst/>
                <a:latin typeface="Garamond"/>
              </a:rPr>
              <a:t>. https://mindster.com/mindster-blogs/the-rise-of-chatbot-banking-understanding-its-potential/</a:t>
            </a:r>
            <a:r>
              <a:rPr lang="en-US" sz="1400" b="1" dirty="0">
                <a:latin typeface="Garamond"/>
              </a:rPr>
              <a:t> </a:t>
            </a:r>
            <a:endParaRPr lang="en-US" sz="1400" b="1" dirty="0">
              <a:effectLst/>
              <a:latin typeface="Garamond"/>
            </a:endParaRPr>
          </a:p>
          <a:p>
            <a:pPr>
              <a:lnSpc>
                <a:spcPct val="90000"/>
              </a:lnSpc>
            </a:pPr>
            <a:r>
              <a:rPr lang="en-US" sz="1400" b="1" i="1" dirty="0">
                <a:latin typeface="Garamond"/>
              </a:rPr>
              <a:t>Top chatbots in financial services for 2022 | </a:t>
            </a:r>
            <a:r>
              <a:rPr lang="en-US" sz="1400" b="1" i="1" dirty="0" err="1">
                <a:latin typeface="Garamond"/>
              </a:rPr>
              <a:t>Botpress</a:t>
            </a:r>
            <a:r>
              <a:rPr lang="en-US" sz="1400" b="1" i="1" dirty="0">
                <a:latin typeface="Garamond"/>
              </a:rPr>
              <a:t> Blog</a:t>
            </a:r>
            <a:r>
              <a:rPr lang="en-US" sz="1400" b="1" dirty="0">
                <a:latin typeface="Garamond"/>
              </a:rPr>
              <a:t>. (n.d.). </a:t>
            </a:r>
            <a:r>
              <a:rPr lang="en-US" sz="1400" b="1" u="sng" dirty="0">
                <a:latin typeface="Garamond"/>
                <a:hlinkClick r:id="rId2"/>
              </a:rPr>
              <a:t>https://botpress.com/blog/top-chatbots-financial-services</a:t>
            </a:r>
            <a:endParaRPr lang="en-CA" sz="1400" b="1" dirty="0">
              <a:latin typeface="Garamond"/>
            </a:endParaRPr>
          </a:p>
          <a:p>
            <a:pPr>
              <a:lnSpc>
                <a:spcPct val="90000"/>
              </a:lnSpc>
              <a:buClr>
                <a:srgbClr val="8AD0D6"/>
              </a:buClr>
            </a:pPr>
            <a:r>
              <a:rPr lang="en-US" sz="1400" b="1" dirty="0">
                <a:latin typeface="Garamond"/>
              </a:rPr>
              <a:t>S. (2024, January 3). </a:t>
            </a:r>
            <a:r>
              <a:rPr lang="en-US" sz="1400" b="1" i="1" dirty="0">
                <a:latin typeface="Garamond"/>
              </a:rPr>
              <a:t>How AI-Driven Chatbots are Transforming the Financial Services Industry</a:t>
            </a:r>
            <a:r>
              <a:rPr lang="en-US" sz="1400" b="1" dirty="0">
                <a:latin typeface="Garamond"/>
              </a:rPr>
              <a:t>. </a:t>
            </a:r>
            <a:r>
              <a:rPr lang="en-US" sz="1400" b="1" u="sng" dirty="0">
                <a:latin typeface="Garamond"/>
                <a:hlinkClick r:id="rId3"/>
              </a:rPr>
              <a:t>https://www.linkedin.com/pulse/how-ai-driven-chatbots-transforming-financial-services-industry-ugrmc/</a:t>
            </a:r>
            <a:endParaRPr lang="en-CA" sz="1400" b="1" dirty="0">
              <a:latin typeface="Garamond"/>
            </a:endParaRPr>
          </a:p>
          <a:p>
            <a:pPr>
              <a:lnSpc>
                <a:spcPct val="90000"/>
              </a:lnSpc>
              <a:buClr>
                <a:srgbClr val="8AD0D6"/>
              </a:buClr>
            </a:pPr>
            <a:r>
              <a:rPr lang="en-US" sz="1400" b="1" dirty="0">
                <a:latin typeface="Garamond"/>
              </a:rPr>
              <a:t>Drozdov, A. (2023, September 1). </a:t>
            </a:r>
            <a:r>
              <a:rPr lang="en-US" sz="1400" b="1" i="1" dirty="0">
                <a:latin typeface="Garamond"/>
              </a:rPr>
              <a:t>Chatbots in Finance: Benefits, Examples, and Future</a:t>
            </a:r>
            <a:r>
              <a:rPr lang="en-US" sz="1400" b="1" dirty="0">
                <a:latin typeface="Garamond"/>
              </a:rPr>
              <a:t>. Yellow. </a:t>
            </a:r>
            <a:r>
              <a:rPr lang="en-US" sz="1400" b="1" u="sng" dirty="0">
                <a:latin typeface="Garamond"/>
                <a:hlinkClick r:id="rId4"/>
              </a:rPr>
              <a:t>https://yellow.systems/blog/chatbots-in-finance</a:t>
            </a:r>
            <a:endParaRPr lang="en-CA" sz="1400" b="1" dirty="0">
              <a:latin typeface="Garamond"/>
            </a:endParaRPr>
          </a:p>
          <a:p>
            <a:pPr>
              <a:lnSpc>
                <a:spcPct val="90000"/>
              </a:lnSpc>
              <a:buClr>
                <a:srgbClr val="8AD0D6"/>
              </a:buClr>
            </a:pPr>
            <a:r>
              <a:rPr lang="en-US" sz="1400" b="1" i="1" dirty="0">
                <a:latin typeface="Garamond"/>
              </a:rPr>
              <a:t>Financial Terminology: 20 Financial Terms to Know</a:t>
            </a:r>
            <a:r>
              <a:rPr lang="en-US" sz="1400" b="1" dirty="0">
                <a:latin typeface="Garamond"/>
              </a:rPr>
              <a:t>. (2018, October 11). Business Insights Blog. </a:t>
            </a:r>
            <a:r>
              <a:rPr lang="en-US" sz="1400" b="1" u="sng" dirty="0">
                <a:latin typeface="Garamond"/>
                <a:hlinkClick r:id="rId5"/>
              </a:rPr>
              <a:t>https://online.hbs.edu/blog/post/finance-for-non-finance-professionals-finance-terms-to-know?c1=GAW_CM_NW&amp;source=CA_GEN_PMAX&amp;cr2=content__-__ca__-__gen__-__pmax&amp;kw=general&amp;cr5=&amp;cr6=&amp;cr7=c&amp;utm_campaign=content__-__ca__-__gen__-__pmax&amp;utm_term=general&amp;gad_source=1&amp;gclid=Cj0KCQjwq86wBhDiARIsAJhuphmuInQMO98mQGjGBlSGLvzQkfs3EUUOkyQkHus1cJrjuP4Lzgd8DNUaAhObEALw_wcB</a:t>
            </a:r>
            <a:endParaRPr lang="en-CA" sz="1400" b="1" dirty="0">
              <a:latin typeface="Garamond"/>
            </a:endParaRPr>
          </a:p>
          <a:p>
            <a:pPr>
              <a:lnSpc>
                <a:spcPct val="90000"/>
              </a:lnSpc>
              <a:buClr>
                <a:srgbClr val="8AD0D6"/>
              </a:buClr>
            </a:pPr>
            <a:r>
              <a:rPr lang="en-US" sz="1400" b="1" dirty="0">
                <a:latin typeface="Garamond"/>
              </a:rPr>
              <a:t>O’Shea, A., &amp; Voigt, K. (2024, March 22). </a:t>
            </a:r>
            <a:r>
              <a:rPr lang="en-US" sz="1400" b="1" i="1" dirty="0">
                <a:latin typeface="Garamond"/>
              </a:rPr>
              <a:t>Stock Market Basics: What Beginner Investors Should Know</a:t>
            </a:r>
            <a:r>
              <a:rPr lang="en-US" sz="1400" b="1" dirty="0">
                <a:latin typeface="Garamond"/>
              </a:rPr>
              <a:t>. NerdWallet. </a:t>
            </a:r>
            <a:r>
              <a:rPr lang="en-US" sz="1400" b="1" u="sng" dirty="0">
                <a:latin typeface="Garamond"/>
                <a:hlinkClick r:id="rId6"/>
              </a:rPr>
              <a:t>https://www.nerdwallet.com/article/investing/stock-market-basics-everything-beginner-investors-know</a:t>
            </a:r>
            <a:endParaRPr lang="en-CA" sz="1400" b="1" dirty="0">
              <a:latin typeface="Garamond"/>
            </a:endParaRPr>
          </a:p>
          <a:p>
            <a:pPr>
              <a:lnSpc>
                <a:spcPct val="90000"/>
              </a:lnSpc>
              <a:buClr>
                <a:srgbClr val="8AD0D6"/>
              </a:buClr>
            </a:pPr>
            <a:r>
              <a:rPr lang="en-US" sz="1400" b="1" dirty="0" err="1">
                <a:latin typeface="Garamond"/>
              </a:rPr>
              <a:t>Investmint</a:t>
            </a:r>
            <a:r>
              <a:rPr lang="en-US" sz="1400" b="1" dirty="0">
                <a:latin typeface="Garamond"/>
              </a:rPr>
              <a:t>, T. (2023, October 20). 6 biggest stock market scams that shook the Indian investors. </a:t>
            </a:r>
            <a:r>
              <a:rPr lang="en-US" sz="1400" b="1" dirty="0" err="1">
                <a:latin typeface="Garamond"/>
              </a:rPr>
              <a:t>Investmint</a:t>
            </a:r>
            <a:r>
              <a:rPr lang="en-US" sz="1400" b="1" dirty="0">
                <a:latin typeface="Garamond"/>
              </a:rPr>
              <a:t> Blog. </a:t>
            </a:r>
            <a:r>
              <a:rPr lang="en-US" sz="1400" b="1" dirty="0">
                <a:latin typeface="Garamond"/>
                <a:hlinkClick r:id="rId7"/>
              </a:rPr>
              <a:t>https://www.investmint.club/blog/6-biggest-stock-market-scams-that-shook-the-indian-investors/#:~:text=The%20Harshad%20Mehta%20scam%20was,interbank%20market%20for%20short%20periods</a:t>
            </a:r>
            <a:r>
              <a:rPr lang="en-US" sz="1400" b="1" dirty="0">
                <a:latin typeface="Garamond"/>
              </a:rPr>
              <a:t>. </a:t>
            </a:r>
            <a:endParaRPr lang="en-CA" sz="1400" b="1" dirty="0">
              <a:latin typeface="Garamond"/>
            </a:endParaRPr>
          </a:p>
          <a:p>
            <a:pPr>
              <a:lnSpc>
                <a:spcPct val="90000"/>
              </a:lnSpc>
              <a:buClr>
                <a:srgbClr val="8AD0D6"/>
              </a:buClr>
            </a:pPr>
            <a:endParaRPr lang="en-US" sz="1100" b="1" u="sng" dirty="0">
              <a:latin typeface="Garamond"/>
            </a:endParaRPr>
          </a:p>
          <a:p>
            <a:pPr>
              <a:lnSpc>
                <a:spcPct val="90000"/>
              </a:lnSpc>
              <a:buClr>
                <a:srgbClr val="8AD0D6"/>
              </a:buClr>
            </a:pPr>
            <a:endParaRPr lang="en-CA" sz="1100" b="1" dirty="0">
              <a:latin typeface="Garamond"/>
            </a:endParaRPr>
          </a:p>
        </p:txBody>
      </p:sp>
    </p:spTree>
    <p:extLst>
      <p:ext uri="{BB962C8B-B14F-4D97-AF65-F5344CB8AC3E}">
        <p14:creationId xmlns:p14="http://schemas.microsoft.com/office/powerpoint/2010/main" val="128747919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A74CFD91-F419-C389-5970-1561FE32F906}"/>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9</a:t>
            </a:fld>
            <a:endParaRPr lang="en-US">
              <a:solidFill>
                <a:srgbClr val="FFFFFF"/>
              </a:solidFill>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3" name="Content Placeholder 2">
            <a:extLst>
              <a:ext uri="{FF2B5EF4-FFF2-40B4-BE49-F238E27FC236}">
                <a16:creationId xmlns:a16="http://schemas.microsoft.com/office/drawing/2014/main" id="{F686CA9B-14E1-209A-34A8-A27C70786FC9}"/>
              </a:ext>
            </a:extLst>
          </p:cNvPr>
          <p:cNvSpPr>
            <a:spLocks noGrp="1"/>
          </p:cNvSpPr>
          <p:nvPr>
            <p:ph idx="1"/>
          </p:nvPr>
        </p:nvSpPr>
        <p:spPr>
          <a:xfrm>
            <a:off x="953221" y="2452349"/>
            <a:ext cx="10251177" cy="4037228"/>
          </a:xfrm>
        </p:spPr>
        <p:txBody>
          <a:bodyPr vert="horz" lIns="91440" tIns="45720" rIns="91440" bIns="45720" rtlCol="0" anchor="t">
            <a:noAutofit/>
          </a:bodyPr>
          <a:lstStyle/>
          <a:p>
            <a:pPr>
              <a:lnSpc>
                <a:spcPct val="90000"/>
              </a:lnSpc>
            </a:pPr>
            <a:r>
              <a:rPr lang="en-US" sz="1200" b="1" dirty="0">
                <a:latin typeface="Garamond"/>
              </a:rPr>
              <a:t>Five AI Technologies. (n.d.). SAS. </a:t>
            </a:r>
            <a:r>
              <a:rPr lang="en-US" sz="1200" b="1" dirty="0">
                <a:latin typeface="Garamond"/>
                <a:hlinkClick r:id="rId2"/>
              </a:rPr>
              <a:t>https://www.sas.com/en_ca/insights/articles/analytics/five-ai-technologies.html</a:t>
            </a:r>
            <a:endParaRPr lang="en-CA" sz="1200" b="1" dirty="0">
              <a:latin typeface="Garamond"/>
            </a:endParaRPr>
          </a:p>
          <a:p>
            <a:pPr>
              <a:lnSpc>
                <a:spcPct val="90000"/>
              </a:lnSpc>
              <a:buClr>
                <a:srgbClr val="8AD0D6"/>
              </a:buClr>
            </a:pPr>
            <a:r>
              <a:rPr lang="en-US" sz="1200" b="1" dirty="0">
                <a:latin typeface="Garamond"/>
              </a:rPr>
              <a:t>Financial Terminology: 20 Financial Terms to Know. (2018, October 11). Business Insights Blog. </a:t>
            </a:r>
            <a:r>
              <a:rPr lang="en-US" sz="1200" b="1" dirty="0">
                <a:latin typeface="Garamond"/>
                <a:hlinkClick r:id="rId3"/>
              </a:rPr>
              <a:t>https://online.hbs.edu/blog/post/finance-for-non-finance-professionals-finance-terms-to-know</a:t>
            </a:r>
            <a:endParaRPr lang="en-CA" sz="1200" b="1" dirty="0">
              <a:latin typeface="Garamond"/>
            </a:endParaRPr>
          </a:p>
          <a:p>
            <a:pPr>
              <a:lnSpc>
                <a:spcPct val="90000"/>
              </a:lnSpc>
              <a:buClr>
                <a:srgbClr val="8AD0D6"/>
              </a:buClr>
            </a:pPr>
            <a:r>
              <a:rPr lang="en-US" sz="1200" b="1" dirty="0">
                <a:latin typeface="Garamond"/>
              </a:rPr>
              <a:t>Financial Terms A-Z. (2019, September 10). Investopedia. </a:t>
            </a:r>
            <a:r>
              <a:rPr lang="en-US" sz="1200" b="1" dirty="0">
                <a:latin typeface="Garamond"/>
                <a:hlinkClick r:id="rId4"/>
              </a:rPr>
              <a:t>https://www.investopedia.com/financial-term-dictionary-4769738</a:t>
            </a:r>
            <a:endParaRPr lang="en-CA" sz="1200" b="1" dirty="0">
              <a:latin typeface="Garamond"/>
            </a:endParaRPr>
          </a:p>
          <a:p>
            <a:pPr>
              <a:lnSpc>
                <a:spcPct val="90000"/>
              </a:lnSpc>
              <a:buClr>
                <a:srgbClr val="8AD0D6"/>
              </a:buClr>
            </a:pPr>
            <a:r>
              <a:rPr lang="en-US" sz="1200" b="1" dirty="0">
                <a:latin typeface="Garamond"/>
              </a:rPr>
              <a:t>Glossary of Terms for Newcomers to Canada. (2023, May 9). RBC Royal Bank. </a:t>
            </a:r>
            <a:r>
              <a:rPr lang="en-US" sz="1200" b="1" dirty="0">
                <a:latin typeface="Garamond"/>
                <a:hlinkClick r:id="rId5"/>
              </a:rPr>
              <a:t>https://www.rbcroyalbank.com/en-ca/new-to-canada/glossary-financial-terms/</a:t>
            </a:r>
            <a:endParaRPr lang="en-CA" sz="1200" b="1" dirty="0">
              <a:latin typeface="Garamond"/>
            </a:endParaRPr>
          </a:p>
          <a:p>
            <a:pPr>
              <a:lnSpc>
                <a:spcPct val="90000"/>
              </a:lnSpc>
              <a:buClr>
                <a:srgbClr val="8AD0D6"/>
              </a:buClr>
            </a:pPr>
            <a:r>
              <a:rPr lang="en-US" sz="1200" b="1" dirty="0">
                <a:latin typeface="Garamond"/>
              </a:rPr>
              <a:t>N. (n.d.). Nasdaq: Stock Market, Data Updates, Reports &amp; News. Nasdaq. </a:t>
            </a:r>
            <a:r>
              <a:rPr lang="en-US" sz="1200" b="1" dirty="0">
                <a:latin typeface="Garamond"/>
                <a:hlinkClick r:id="rId6"/>
              </a:rPr>
              <a:t>https://www.nasdaq.com/</a:t>
            </a:r>
            <a:endParaRPr lang="en-CA" sz="1200" b="1" dirty="0">
              <a:latin typeface="Garamond"/>
            </a:endParaRPr>
          </a:p>
          <a:p>
            <a:pPr>
              <a:lnSpc>
                <a:spcPct val="90000"/>
              </a:lnSpc>
              <a:buClr>
                <a:srgbClr val="8AD0D6"/>
              </a:buClr>
            </a:pPr>
            <a:r>
              <a:rPr lang="en-US" sz="1200" b="1" dirty="0">
                <a:latin typeface="Garamond"/>
              </a:rPr>
              <a:t>Yahoo is part of the Yahoo family of brands. (n.d.). </a:t>
            </a:r>
            <a:r>
              <a:rPr lang="en-US" sz="1200" b="1" dirty="0">
                <a:latin typeface="Garamond"/>
                <a:hlinkClick r:id="rId7"/>
              </a:rPr>
              <a:t>https://finance.yahoo.com/quote/%5EIXIC/</a:t>
            </a:r>
            <a:endParaRPr lang="en-CA" sz="1200" b="1" dirty="0">
              <a:latin typeface="Garamond"/>
            </a:endParaRPr>
          </a:p>
          <a:p>
            <a:pPr>
              <a:lnSpc>
                <a:spcPct val="90000"/>
              </a:lnSpc>
              <a:buClr>
                <a:srgbClr val="8AD0D6"/>
              </a:buClr>
            </a:pPr>
            <a:r>
              <a:rPr lang="en-US" sz="1200" b="1" dirty="0">
                <a:latin typeface="Garamond"/>
              </a:rPr>
              <a:t>Bloomberg - Are you a robot? (n.d.). </a:t>
            </a:r>
            <a:r>
              <a:rPr lang="en-US" sz="1200" b="1" dirty="0">
                <a:latin typeface="Garamond"/>
                <a:hlinkClick r:id="rId8"/>
              </a:rPr>
              <a:t>https://www.bloomberg.com/quote/CCMP:IND</a:t>
            </a:r>
            <a:endParaRPr lang="en-CA" sz="1200" b="1" dirty="0">
              <a:latin typeface="Garamond"/>
            </a:endParaRPr>
          </a:p>
          <a:p>
            <a:pPr>
              <a:lnSpc>
                <a:spcPct val="90000"/>
              </a:lnSpc>
              <a:buClr>
                <a:srgbClr val="8AD0D6"/>
              </a:buClr>
            </a:pPr>
            <a:r>
              <a:rPr lang="en-US" sz="1200" b="1" dirty="0">
                <a:latin typeface="Garamond"/>
              </a:rPr>
              <a:t>Financial Times. (n.d.). Financial Times. </a:t>
            </a:r>
            <a:r>
              <a:rPr lang="en-US" sz="1200" b="1" dirty="0">
                <a:latin typeface="Garamond"/>
                <a:hlinkClick r:id="rId9"/>
              </a:rPr>
              <a:t>https://www.ft.com/</a:t>
            </a:r>
            <a:endParaRPr lang="en-CA" sz="1200" b="1" dirty="0">
              <a:latin typeface="Garamond"/>
            </a:endParaRPr>
          </a:p>
          <a:p>
            <a:pPr>
              <a:lnSpc>
                <a:spcPct val="90000"/>
              </a:lnSpc>
              <a:buClr>
                <a:srgbClr val="8AD0D6"/>
              </a:buClr>
            </a:pPr>
            <a:r>
              <a:rPr lang="en-US" sz="1200" b="1" dirty="0">
                <a:latin typeface="Garamond"/>
              </a:rPr>
              <a:t>Strickland, K. (n.d.). Customer Service AI Chatbots - </a:t>
            </a:r>
            <a:r>
              <a:rPr lang="en-US" sz="1200" b="1" dirty="0" err="1">
                <a:latin typeface="Garamond"/>
              </a:rPr>
              <a:t>Freshchat</a:t>
            </a:r>
            <a:r>
              <a:rPr lang="en-US" sz="1200" b="1" dirty="0">
                <a:latin typeface="Garamond"/>
              </a:rPr>
              <a:t> by </a:t>
            </a:r>
            <a:r>
              <a:rPr lang="en-US" sz="1200" b="1" dirty="0" err="1">
                <a:latin typeface="Garamond"/>
              </a:rPr>
              <a:t>Freshworks</a:t>
            </a:r>
            <a:r>
              <a:rPr lang="en-US" sz="1200" b="1" dirty="0">
                <a:latin typeface="Garamond"/>
              </a:rPr>
              <a:t>. </a:t>
            </a:r>
            <a:r>
              <a:rPr lang="en-US" sz="1200" b="1" dirty="0">
                <a:latin typeface="Garamond"/>
                <a:hlinkClick r:id="rId10"/>
              </a:rPr>
              <a:t>https://www.freshworks.com/customer-service-suite/lp/ai-conversational-chatbots/?tactic_id=5587714&amp;utm_source=GoogleAdwords&amp;utm_medium=Fchat-Search-US-East-Generic-BOFU-Chatbot&amp;utm_campaign=Fchat-Search-US-East-Generic-BOFU-Chatbot&amp;utm_term=chatbot%20in%20software&amp;device=c&amp;matchtype=p&amp;network=g&amp;gclid=Cj0KCQjwlN6wBhCcARIsAKZvD5gKElQPGgkMGOdcf9xuE73Mn9C1fwECFUuf31ahqqGG4cyuQfj850kaAo3BEALw_wcB&amp;audience=kwd-1249032152042&amp;ad_id=640030498218&amp;gad_source=1</a:t>
            </a:r>
            <a:endParaRPr lang="en-US" sz="1200" b="1" dirty="0">
              <a:latin typeface="Garamond"/>
            </a:endParaRPr>
          </a:p>
          <a:p>
            <a:pPr>
              <a:lnSpc>
                <a:spcPct val="90000"/>
              </a:lnSpc>
              <a:buClr>
                <a:srgbClr val="8AD0D6"/>
              </a:buClr>
            </a:pPr>
            <a:r>
              <a:rPr lang="en-US" sz="1200" b="1" dirty="0">
                <a:latin typeface="Garamond"/>
              </a:rPr>
              <a:t>TIMESOFINDIA.COM. (2024, January 1). Pune man loses Rs 2.1 crore to investment scam: What is it and how to stay safe. The Times of India. </a:t>
            </a:r>
            <a:r>
              <a:rPr lang="en-US" sz="1200" b="1" dirty="0">
                <a:latin typeface="Garamond"/>
                <a:hlinkClick r:id="rId11"/>
              </a:rPr>
              <a:t>https://timesofindia.indiatimes.com/gadgets-news/pune-man-loses-rs-2-1-crore-to-investment-scam-what-is-it-and-how-to-stay-safe/articleshow/106454523.cms</a:t>
            </a:r>
            <a:r>
              <a:rPr lang="en-US" sz="1200" b="1" dirty="0">
                <a:latin typeface="Garamond"/>
              </a:rPr>
              <a:t> </a:t>
            </a:r>
          </a:p>
          <a:p>
            <a:pPr>
              <a:lnSpc>
                <a:spcPct val="90000"/>
              </a:lnSpc>
              <a:buClr>
                <a:srgbClr val="8AD0D6"/>
              </a:buClr>
            </a:pPr>
            <a:endParaRPr lang="en-CA" sz="1200" b="1" dirty="0"/>
          </a:p>
          <a:p>
            <a:pPr>
              <a:lnSpc>
                <a:spcPct val="90000"/>
              </a:lnSpc>
              <a:buClr>
                <a:srgbClr val="8AD0D6"/>
              </a:buClr>
            </a:pPr>
            <a:endParaRPr lang="en-US" sz="1200" b="1" dirty="0"/>
          </a:p>
        </p:txBody>
      </p:sp>
      <p:sp>
        <p:nvSpPr>
          <p:cNvPr id="2" name="Title 1">
            <a:extLst>
              <a:ext uri="{FF2B5EF4-FFF2-40B4-BE49-F238E27FC236}">
                <a16:creationId xmlns:a16="http://schemas.microsoft.com/office/drawing/2014/main" id="{38E7BD73-4606-2844-B0A6-9E273A483B88}"/>
              </a:ext>
            </a:extLst>
          </p:cNvPr>
          <p:cNvSpPr>
            <a:spLocks noGrp="1"/>
          </p:cNvSpPr>
          <p:nvPr>
            <p:ph type="title"/>
          </p:nvPr>
        </p:nvSpPr>
        <p:spPr>
          <a:xfrm>
            <a:off x="1103312" y="452718"/>
            <a:ext cx="8947522" cy="1400530"/>
          </a:xfrm>
        </p:spPr>
        <p:txBody>
          <a:bodyPr anchor="ctr">
            <a:normAutofit/>
          </a:bodyPr>
          <a:lstStyle/>
          <a:p>
            <a:r>
              <a:rPr lang="en-CA" dirty="0">
                <a:solidFill>
                  <a:srgbClr val="FFFFFF"/>
                </a:solidFill>
              </a:rPr>
              <a:t>Source/reference:</a:t>
            </a:r>
          </a:p>
        </p:txBody>
      </p:sp>
    </p:spTree>
    <p:extLst>
      <p:ext uri="{BB962C8B-B14F-4D97-AF65-F5344CB8AC3E}">
        <p14:creationId xmlns:p14="http://schemas.microsoft.com/office/powerpoint/2010/main" val="371788085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3"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F6886BE-BEAD-FC70-94B6-928D5D05D920}"/>
              </a:ext>
            </a:extLst>
          </p:cNvPr>
          <p:cNvSpPr>
            <a:spLocks noGrp="1"/>
          </p:cNvSpPr>
          <p:nvPr>
            <p:ph type="title"/>
          </p:nvPr>
        </p:nvSpPr>
        <p:spPr>
          <a:xfrm>
            <a:off x="372862" y="629267"/>
            <a:ext cx="9528222" cy="1016654"/>
          </a:xfrm>
        </p:spPr>
        <p:txBody>
          <a:bodyPr>
            <a:normAutofit/>
          </a:bodyPr>
          <a:lstStyle/>
          <a:p>
            <a:r>
              <a:rPr lang="en-CA" sz="4800" b="1" dirty="0">
                <a:solidFill>
                  <a:srgbClr val="EBEBEB"/>
                </a:solidFill>
              </a:rPr>
              <a:t>Summary</a:t>
            </a:r>
            <a:r>
              <a:rPr lang="en-CA" dirty="0">
                <a:solidFill>
                  <a:srgbClr val="EBEBEB"/>
                </a:solidFill>
              </a:rPr>
              <a:t> </a:t>
            </a:r>
          </a:p>
        </p:txBody>
      </p:sp>
      <p:sp useBgFill="1">
        <p:nvSpPr>
          <p:cNvPr id="15" name="Freeform: Shape 14">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CA"/>
          </a:p>
        </p:txBody>
      </p:sp>
      <p:sp>
        <p:nvSpPr>
          <p:cNvPr id="3" name="Content Placeholder 2">
            <a:extLst>
              <a:ext uri="{FF2B5EF4-FFF2-40B4-BE49-F238E27FC236}">
                <a16:creationId xmlns:a16="http://schemas.microsoft.com/office/drawing/2014/main" id="{D3F31E14-5C69-FBDD-1A0D-348B638B090A}"/>
              </a:ext>
            </a:extLst>
          </p:cNvPr>
          <p:cNvSpPr>
            <a:spLocks noGrp="1"/>
          </p:cNvSpPr>
          <p:nvPr>
            <p:ph idx="1"/>
          </p:nvPr>
        </p:nvSpPr>
        <p:spPr>
          <a:xfrm>
            <a:off x="372862" y="2548281"/>
            <a:ext cx="5859262" cy="3658689"/>
          </a:xfrm>
        </p:spPr>
        <p:txBody>
          <a:bodyPr vert="horz" lIns="91440" tIns="45720" rIns="91440" bIns="45720" rtlCol="0" anchor="t">
            <a:normAutofit/>
          </a:bodyPr>
          <a:lstStyle/>
          <a:p>
            <a:pPr marL="0" indent="0">
              <a:buNone/>
            </a:pPr>
            <a:r>
              <a:rPr lang="en-US" sz="1600" b="1" i="1" dirty="0">
                <a:latin typeface="+mn-lt"/>
                <a:ea typeface="+mn-lt"/>
                <a:cs typeface="+mn-lt"/>
              </a:rPr>
              <a:t>To provide impactful product where our customers can explore the world of finance and train minds to unlock analytical skills to make personalized investment decisions anytime and anywhere with a single click.</a:t>
            </a:r>
          </a:p>
          <a:p>
            <a:pPr marL="0" indent="0">
              <a:buNone/>
            </a:pPr>
            <a:endParaRPr lang="en-US" sz="1600" b="1" i="1" dirty="0">
              <a:latin typeface="+mn-lt"/>
              <a:ea typeface="+mn-lt"/>
              <a:cs typeface="+mn-lt"/>
            </a:endParaRPr>
          </a:p>
          <a:p>
            <a:pPr marL="0" indent="0">
              <a:buNone/>
            </a:pPr>
            <a:endParaRPr lang="en-US" sz="1600" b="1" i="1" dirty="0">
              <a:latin typeface="+mn-lt"/>
              <a:ea typeface="+mn-lt"/>
              <a:cs typeface="+mn-lt"/>
            </a:endParaRPr>
          </a:p>
          <a:p>
            <a:pPr marL="0" indent="0">
              <a:buNone/>
            </a:pPr>
            <a:r>
              <a:rPr lang="en-US" sz="1600" b="1" i="1" dirty="0">
                <a:latin typeface="+mn-lt"/>
                <a:ea typeface="+mn-lt"/>
                <a:cs typeface="+mn-lt"/>
              </a:rPr>
              <a:t>Project Portfolio Website  </a:t>
            </a:r>
            <a:r>
              <a:rPr lang="en-US" sz="1600" b="1" i="1" dirty="0">
                <a:latin typeface="+mn-lt"/>
                <a:ea typeface="+mn-lt"/>
                <a:cs typeface="+mn-lt"/>
                <a:sym typeface="Wingdings" panose="05000000000000000000" pitchFamily="2" charset="2"/>
              </a:rPr>
              <a:t></a:t>
            </a:r>
            <a:endParaRPr lang="en-CA" sz="1600" dirty="0">
              <a:latin typeface="+mn-lt"/>
            </a:endParaRPr>
          </a:p>
          <a:p>
            <a:pPr marL="0" indent="0">
              <a:buNone/>
            </a:pPr>
            <a:endParaRPr lang="en-US" sz="1600" b="1" i="1" dirty="0">
              <a:ea typeface="+mn-lt"/>
              <a:cs typeface="+mn-lt"/>
            </a:endParaRPr>
          </a:p>
          <a:p>
            <a:pPr marL="0" indent="0">
              <a:buNone/>
            </a:pPr>
            <a:r>
              <a:rPr lang="en-US" sz="1600" b="1" i="1" dirty="0">
                <a:ea typeface="+mn-lt"/>
                <a:cs typeface="+mn-lt"/>
              </a:rPr>
              <a:t>Wix: </a:t>
            </a:r>
            <a:r>
              <a:rPr lang="en-US" sz="1600" b="1" i="1" dirty="0">
                <a:solidFill>
                  <a:srgbClr val="0070C0"/>
                </a:solidFill>
                <a:ea typeface="+mn-lt"/>
                <a:cs typeface="+mn-lt"/>
                <a:hlinkClick r:id="rId2">
                  <a:extLst>
                    <a:ext uri="{A12FA001-AC4F-418D-AE19-62706E023703}">
                      <ahyp:hlinkClr xmlns:ahyp="http://schemas.microsoft.com/office/drawing/2018/hyperlinkcolor" val="tx"/>
                    </a:ext>
                  </a:extLst>
                </a:hlinkClick>
              </a:rPr>
              <a:t>https://meghaannmathew1996.wixsite.com/finoclik</a:t>
            </a:r>
            <a:r>
              <a:rPr lang="en-US" sz="1600" b="1" i="1" dirty="0">
                <a:solidFill>
                  <a:srgbClr val="0070C0"/>
                </a:solidFill>
                <a:ea typeface="+mn-lt"/>
                <a:cs typeface="+mn-lt"/>
              </a:rPr>
              <a:t> </a:t>
            </a:r>
          </a:p>
        </p:txBody>
      </p:sp>
      <p:pic>
        <p:nvPicPr>
          <p:cNvPr id="4" name="Picture 3">
            <a:extLst>
              <a:ext uri="{FF2B5EF4-FFF2-40B4-BE49-F238E27FC236}">
                <a16:creationId xmlns:a16="http://schemas.microsoft.com/office/drawing/2014/main" id="{74644DEC-03B1-C7FA-BDE2-1077BC2A6966}"/>
              </a:ext>
            </a:extLst>
          </p:cNvPr>
          <p:cNvPicPr>
            <a:picLocks noChangeAspect="1"/>
          </p:cNvPicPr>
          <p:nvPr/>
        </p:nvPicPr>
        <p:blipFill>
          <a:blip r:embed="rId3"/>
          <a:stretch>
            <a:fillRect/>
          </a:stretch>
        </p:blipFill>
        <p:spPr>
          <a:xfrm>
            <a:off x="6310036" y="2548281"/>
            <a:ext cx="5139672" cy="3662018"/>
          </a:xfrm>
          <a:prstGeom prst="rect">
            <a:avLst/>
          </a:prstGeom>
          <a:effectLst/>
        </p:spPr>
      </p:pic>
      <p:sp>
        <p:nvSpPr>
          <p:cNvPr id="5" name="Slide Number Placeholder 4">
            <a:extLst>
              <a:ext uri="{FF2B5EF4-FFF2-40B4-BE49-F238E27FC236}">
                <a16:creationId xmlns:a16="http://schemas.microsoft.com/office/drawing/2014/main" id="{23ADE361-C916-AC61-8B21-FDECBC242AFA}"/>
              </a:ext>
            </a:extLst>
          </p:cNvPr>
          <p:cNvSpPr>
            <a:spLocks noGrp="1"/>
          </p:cNvSpPr>
          <p:nvPr>
            <p:ph type="sldNum" sz="quarter" idx="12"/>
          </p:nvPr>
        </p:nvSpPr>
        <p:spPr/>
        <p:txBody>
          <a:bodyPr/>
          <a:lstStyle/>
          <a:p>
            <a:fld id="{D57F1E4F-1CFF-5643-939E-02111984F565}" type="slidenum">
              <a:rPr lang="en-US" dirty="0"/>
              <a:t>10</a:t>
            </a:fld>
            <a:endParaRPr lang="en-US"/>
          </a:p>
        </p:txBody>
      </p:sp>
    </p:spTree>
    <p:extLst>
      <p:ext uri="{BB962C8B-B14F-4D97-AF65-F5344CB8AC3E}">
        <p14:creationId xmlns:p14="http://schemas.microsoft.com/office/powerpoint/2010/main" val="262635810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7AF50-FE51-C6D1-D020-6BEC924323D7}"/>
              </a:ext>
            </a:extLst>
          </p:cNvPr>
          <p:cNvSpPr>
            <a:spLocks noGrp="1"/>
          </p:cNvSpPr>
          <p:nvPr>
            <p:ph type="title"/>
          </p:nvPr>
        </p:nvSpPr>
        <p:spPr>
          <a:xfrm>
            <a:off x="4872012" y="1447800"/>
            <a:ext cx="5222325" cy="3329581"/>
          </a:xfrm>
        </p:spPr>
        <p:txBody>
          <a:bodyPr vert="horz" lIns="91440" tIns="45720" rIns="91440" bIns="45720" rtlCol="0" anchor="b">
            <a:normAutofit/>
          </a:bodyPr>
          <a:lstStyle/>
          <a:p>
            <a:r>
              <a:rPr lang="en-US" sz="7200" b="0" i="0" kern="1200">
                <a:solidFill>
                  <a:srgbClr val="EBEBEB"/>
                </a:solidFill>
                <a:latin typeface="+mj-lt"/>
                <a:ea typeface="+mj-ea"/>
                <a:cs typeface="+mj-cs"/>
              </a:rPr>
              <a:t>Any Questions?</a:t>
            </a:r>
          </a:p>
        </p:txBody>
      </p:sp>
      <p:sp>
        <p:nvSpPr>
          <p:cNvPr id="2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Slide Number Placeholder 2">
            <a:extLst>
              <a:ext uri="{FF2B5EF4-FFF2-40B4-BE49-F238E27FC236}">
                <a16:creationId xmlns:a16="http://schemas.microsoft.com/office/drawing/2014/main" id="{9586C02E-988E-A7AB-BC32-2E3EDAB02A0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D57F1E4F-1CFF-5643-939E-02111984F565}" type="slidenum">
              <a:rPr lang="en-US">
                <a:solidFill>
                  <a:srgbClr val="FFFFFF"/>
                </a:solidFill>
              </a:rPr>
              <a:pPr>
                <a:spcAft>
                  <a:spcPts val="600"/>
                </a:spcAft>
              </a:pPr>
              <a:t>11</a:t>
            </a:fld>
            <a:endParaRPr lang="en-US">
              <a:solidFill>
                <a:srgbClr val="FFFFFF"/>
              </a:solidFill>
            </a:endParaRPr>
          </a:p>
        </p:txBody>
      </p:sp>
      <p:pic>
        <p:nvPicPr>
          <p:cNvPr id="7" name="Graphic 6" descr="Question mark">
            <a:extLst>
              <a:ext uri="{FF2B5EF4-FFF2-40B4-BE49-F238E27FC236}">
                <a16:creationId xmlns:a16="http://schemas.microsoft.com/office/drawing/2014/main" id="{12EFE1B7-7CB2-5C9B-0B15-14C18861D9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240" y="2074882"/>
            <a:ext cx="2936836" cy="2936836"/>
          </a:xfrm>
          <a:prstGeom prst="rect">
            <a:avLst/>
          </a:prstGeom>
          <a:effectLst/>
        </p:spPr>
      </p:pic>
    </p:spTree>
    <p:extLst>
      <p:ext uri="{BB962C8B-B14F-4D97-AF65-F5344CB8AC3E}">
        <p14:creationId xmlns:p14="http://schemas.microsoft.com/office/powerpoint/2010/main" val="20279557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53D4C3-1397-4941-6523-4D2294005533}"/>
              </a:ext>
            </a:extLst>
          </p:cNvPr>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b="0" i="0" kern="1200">
                <a:solidFill>
                  <a:srgbClr val="EBEBEB"/>
                </a:solidFill>
                <a:latin typeface="+mj-lt"/>
                <a:ea typeface="+mj-ea"/>
                <a:cs typeface="+mj-cs"/>
              </a:rPr>
              <a:t>Our Revenue Model : </a:t>
            </a:r>
          </a:p>
        </p:txBody>
      </p:sp>
      <p:sp>
        <p:nvSpPr>
          <p:cNvPr id="24"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9A3FD5A4-38A7-8519-E5C5-3F7C9B2EF001}"/>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D57F1E4F-1CFF-5643-939E-02111984F565}" type="slidenum">
              <a:rPr lang="en-US">
                <a:solidFill>
                  <a:srgbClr val="FFFFFF"/>
                </a:solidFill>
              </a:rPr>
              <a:pPr>
                <a:spcAft>
                  <a:spcPts val="600"/>
                </a:spcAft>
              </a:pPr>
              <a:t>12</a:t>
            </a:fld>
            <a:endParaRPr lang="en-US">
              <a:solidFill>
                <a:srgbClr val="FFFFFF"/>
              </a:solidFill>
            </a:endParaRPr>
          </a:p>
        </p:txBody>
      </p:sp>
      <p:pic>
        <p:nvPicPr>
          <p:cNvPr id="5" name="Content Placeholder 4" descr="A close-up of a package&#10;&#10;Description automatically generated">
            <a:extLst>
              <a:ext uri="{FF2B5EF4-FFF2-40B4-BE49-F238E27FC236}">
                <a16:creationId xmlns:a16="http://schemas.microsoft.com/office/drawing/2014/main" id="{935931A6-B9B0-4C0C-F232-04FC91A036FD}"/>
              </a:ext>
            </a:extLst>
          </p:cNvPr>
          <p:cNvPicPr>
            <a:picLocks noGrp="1" noChangeAspect="1"/>
          </p:cNvPicPr>
          <p:nvPr>
            <p:ph idx="1"/>
          </p:nvPr>
        </p:nvPicPr>
        <p:blipFill rotWithShape="1">
          <a:blip r:embed="rId6"/>
          <a:srcRect l="1509" t="2090" r="1447" b="1886"/>
          <a:stretch/>
        </p:blipFill>
        <p:spPr>
          <a:xfrm>
            <a:off x="532315" y="7177"/>
            <a:ext cx="6928323" cy="6845861"/>
          </a:xfrm>
          <a:prstGeom prst="rect">
            <a:avLst/>
          </a:prstGeom>
          <a:effectLst/>
        </p:spPr>
      </p:pic>
    </p:spTree>
    <p:extLst>
      <p:ext uri="{BB962C8B-B14F-4D97-AF65-F5344CB8AC3E}">
        <p14:creationId xmlns:p14="http://schemas.microsoft.com/office/powerpoint/2010/main" val="262113894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E191A791-0F46-0CD5-B870-2637EB1F8FAC}"/>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13</a:t>
            </a:fld>
            <a:endParaRPr lang="en-US">
              <a:solidFill>
                <a:srgbClr val="FFFFFF"/>
              </a:solidFill>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31A4D791-2BC5-277D-AE23-1FB9C6159F30}"/>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References for Functions and features : </a:t>
            </a:r>
          </a:p>
        </p:txBody>
      </p:sp>
      <p:sp>
        <p:nvSpPr>
          <p:cNvPr id="3" name="Content Placeholder 2">
            <a:extLst>
              <a:ext uri="{FF2B5EF4-FFF2-40B4-BE49-F238E27FC236}">
                <a16:creationId xmlns:a16="http://schemas.microsoft.com/office/drawing/2014/main" id="{9D6AC034-5C81-DA66-7499-2676713D8C4E}"/>
              </a:ext>
            </a:extLst>
          </p:cNvPr>
          <p:cNvSpPr>
            <a:spLocks noGrp="1"/>
          </p:cNvSpPr>
          <p:nvPr>
            <p:ph idx="1"/>
          </p:nvPr>
        </p:nvSpPr>
        <p:spPr>
          <a:xfrm>
            <a:off x="1103312" y="2763520"/>
            <a:ext cx="8946541" cy="3484879"/>
          </a:xfrm>
        </p:spPr>
        <p:txBody>
          <a:bodyPr vert="horz" lIns="91440" tIns="45720" rIns="91440" bIns="45720" rtlCol="0">
            <a:normAutofit/>
          </a:bodyPr>
          <a:lstStyle/>
          <a:p>
            <a:pPr>
              <a:lnSpc>
                <a:spcPct val="90000"/>
              </a:lnSpc>
              <a:buClr>
                <a:srgbClr val="8AD0D6"/>
              </a:buClr>
            </a:pPr>
            <a:r>
              <a:rPr lang="en-US" sz="1900">
                <a:latin typeface="Georgia"/>
                <a:ea typeface="+mj-lt"/>
                <a:cs typeface="+mj-lt"/>
              </a:rPr>
              <a:t>Ozgor, B. Y., &amp; Simavi, M. A. (2024). Accuracy and reproducibility of ChatGPT’s free version answers about endometriosis. </a:t>
            </a:r>
            <a:r>
              <a:rPr lang="en-US" sz="1900" i="1">
                <a:latin typeface="Georgia"/>
                <a:ea typeface="+mj-lt"/>
                <a:cs typeface="+mj-lt"/>
              </a:rPr>
              <a:t>International Journal of Gynaecology and Obstetrics: The Official Organ of the International Federation of Gynaecology and Obstetrics</a:t>
            </a:r>
            <a:r>
              <a:rPr lang="en-US" sz="1900">
                <a:latin typeface="Georgia"/>
                <a:ea typeface="+mj-lt"/>
                <a:cs typeface="+mj-lt"/>
              </a:rPr>
              <a:t>, </a:t>
            </a:r>
            <a:r>
              <a:rPr lang="en-US" sz="1900" i="1">
                <a:latin typeface="Georgia"/>
                <a:ea typeface="+mj-lt"/>
                <a:cs typeface="+mj-lt"/>
              </a:rPr>
              <a:t>165</a:t>
            </a:r>
            <a:r>
              <a:rPr lang="en-US" sz="1900">
                <a:latin typeface="Georgia"/>
                <a:ea typeface="+mj-lt"/>
                <a:cs typeface="+mj-lt"/>
              </a:rPr>
              <a:t>(2), 691–695. </a:t>
            </a:r>
            <a:r>
              <a:rPr lang="en-US" sz="1900">
                <a:latin typeface="Georgia"/>
                <a:ea typeface="+mj-lt"/>
                <a:cs typeface="+mj-lt"/>
                <a:hlinkClick r:id="rId2"/>
              </a:rPr>
              <a:t>https://doi.org/10.1002/ijgo.15309</a:t>
            </a:r>
            <a:endParaRPr lang="en-US" sz="1900">
              <a:ea typeface="+mj-lt"/>
              <a:cs typeface="+mj-lt"/>
            </a:endParaRPr>
          </a:p>
          <a:p>
            <a:pPr>
              <a:lnSpc>
                <a:spcPct val="90000"/>
              </a:lnSpc>
              <a:buClr>
                <a:srgbClr val="8AD0D6"/>
              </a:buClr>
            </a:pPr>
            <a:br>
              <a:rPr lang="en-US" sz="1900"/>
            </a:br>
            <a:r>
              <a:rPr lang="en-US" sz="1900">
                <a:latin typeface="Georgia"/>
              </a:rPr>
              <a:t>Niszczota, P., &amp; Abbas, S. (n.d.). </a:t>
            </a:r>
            <a:r>
              <a:rPr lang="en-US" sz="1900" i="1">
                <a:latin typeface="Georgia"/>
              </a:rPr>
              <a:t>GPT has become financially literate: Insights from financial literacy tests of GPT and a preliminary test of how people use it as a source of advice</a:t>
            </a:r>
            <a:r>
              <a:rPr lang="en-US" sz="1900">
                <a:latin typeface="Georgia"/>
              </a:rPr>
              <a:t>. Arxiv.org. Retrieved April 16, 2024, from </a:t>
            </a:r>
            <a:r>
              <a:rPr lang="en-US" sz="1900">
                <a:latin typeface="Georgia"/>
                <a:hlinkClick r:id="rId3"/>
              </a:rPr>
              <a:t>https://arxiv.org/ftp/arxiv/papers/2309/2309.00649.pdf</a:t>
            </a:r>
            <a:endParaRPr lang="en-US" sz="1900"/>
          </a:p>
          <a:p>
            <a:pPr>
              <a:lnSpc>
                <a:spcPct val="90000"/>
              </a:lnSpc>
              <a:buClr>
                <a:srgbClr val="8AD0D6"/>
              </a:buClr>
            </a:pPr>
            <a:br>
              <a:rPr lang="en-US" sz="1900"/>
            </a:br>
            <a:endParaRPr lang="en-US" sz="1900"/>
          </a:p>
          <a:p>
            <a:pPr>
              <a:lnSpc>
                <a:spcPct val="90000"/>
              </a:lnSpc>
              <a:buClr>
                <a:srgbClr val="8AD0D6"/>
              </a:buClr>
            </a:pPr>
            <a:endParaRPr lang="en-US" sz="1900"/>
          </a:p>
          <a:p>
            <a:pPr>
              <a:lnSpc>
                <a:spcPct val="90000"/>
              </a:lnSpc>
              <a:buClr>
                <a:srgbClr val="8AD0D6"/>
              </a:buClr>
            </a:pPr>
            <a:endParaRPr lang="en-US" sz="1900"/>
          </a:p>
        </p:txBody>
      </p:sp>
    </p:spTree>
    <p:extLst>
      <p:ext uri="{BB962C8B-B14F-4D97-AF65-F5344CB8AC3E}">
        <p14:creationId xmlns:p14="http://schemas.microsoft.com/office/powerpoint/2010/main" val="112467418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2"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C27DF87-D9CC-2F4A-7FD2-330B158B0167}"/>
              </a:ext>
            </a:extLst>
          </p:cNvPr>
          <p:cNvSpPr>
            <a:spLocks noGrp="1"/>
          </p:cNvSpPr>
          <p:nvPr>
            <p:ph type="title"/>
          </p:nvPr>
        </p:nvSpPr>
        <p:spPr>
          <a:xfrm>
            <a:off x="648930" y="629267"/>
            <a:ext cx="9252154" cy="1016654"/>
          </a:xfrm>
        </p:spPr>
        <p:txBody>
          <a:bodyPr>
            <a:normAutofit/>
          </a:bodyPr>
          <a:lstStyle/>
          <a:p>
            <a:r>
              <a:rPr lang="en-US">
                <a:solidFill>
                  <a:srgbClr val="EBEBEB"/>
                </a:solidFill>
              </a:rPr>
              <a:t>Testing Time </a:t>
            </a:r>
          </a:p>
        </p:txBody>
      </p:sp>
      <p:sp>
        <p:nvSpPr>
          <p:cNvPr id="4" name="Slide Number Placeholder 3">
            <a:extLst>
              <a:ext uri="{FF2B5EF4-FFF2-40B4-BE49-F238E27FC236}">
                <a16:creationId xmlns:a16="http://schemas.microsoft.com/office/drawing/2014/main" id="{87355ADE-5FA6-8361-5874-650FFF8FEE06}"/>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a:solidFill>
                  <a:srgbClr val="FFFFFF"/>
                </a:solidFill>
              </a:rPr>
              <a:pPr>
                <a:spcAft>
                  <a:spcPts val="600"/>
                </a:spcAft>
              </a:pPr>
              <a:t>14</a:t>
            </a:fld>
            <a:endParaRPr lang="en-US">
              <a:solidFill>
                <a:srgbClr val="FFFFFF"/>
              </a:solidFill>
            </a:endParaRPr>
          </a:p>
        </p:txBody>
      </p:sp>
      <p:sp useBgFill="1">
        <p:nvSpPr>
          <p:cNvPr id="33" name="Freeform: Shape 32">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pic>
        <p:nvPicPr>
          <p:cNvPr id="5" name="Content Placeholder 4" descr="A black text on a white background&#10;&#10;Description automatically generated">
            <a:extLst>
              <a:ext uri="{FF2B5EF4-FFF2-40B4-BE49-F238E27FC236}">
                <a16:creationId xmlns:a16="http://schemas.microsoft.com/office/drawing/2014/main" id="{773F77C1-69EA-304E-2E1F-8C2B6482A483}"/>
              </a:ext>
            </a:extLst>
          </p:cNvPr>
          <p:cNvPicPr>
            <a:picLocks noChangeAspect="1"/>
          </p:cNvPicPr>
          <p:nvPr/>
        </p:nvPicPr>
        <p:blipFill>
          <a:blip r:embed="rId2"/>
          <a:stretch>
            <a:fillRect/>
          </a:stretch>
        </p:blipFill>
        <p:spPr>
          <a:xfrm>
            <a:off x="1150462" y="3430037"/>
            <a:ext cx="10369990" cy="2083233"/>
          </a:xfrm>
          <a:prstGeom prst="rect">
            <a:avLst/>
          </a:prstGeom>
          <a:effectLst/>
        </p:spPr>
      </p:pic>
    </p:spTree>
    <p:extLst>
      <p:ext uri="{BB962C8B-B14F-4D97-AF65-F5344CB8AC3E}">
        <p14:creationId xmlns:p14="http://schemas.microsoft.com/office/powerpoint/2010/main" val="2869395169"/>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TotalTime>
  <Words>1169</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Calibri</vt:lpstr>
      <vt:lpstr>Century Gothic</vt:lpstr>
      <vt:lpstr>Courier New</vt:lpstr>
      <vt:lpstr>Garamond</vt:lpstr>
      <vt:lpstr>Georgia</vt:lpstr>
      <vt:lpstr>Wingdings 3</vt:lpstr>
      <vt:lpstr>Ion</vt:lpstr>
      <vt:lpstr>FinOclik</vt:lpstr>
      <vt:lpstr>Agenda </vt:lpstr>
      <vt:lpstr>What is FinOclik? </vt:lpstr>
      <vt:lpstr>Why FinOclik is useful?</vt:lpstr>
      <vt:lpstr>Where our product stands?</vt:lpstr>
      <vt:lpstr>Where our product stands?</vt:lpstr>
      <vt:lpstr>Target customers</vt:lpstr>
      <vt:lpstr>Source/reference:</vt:lpstr>
      <vt:lpstr>Source/reference:</vt:lpstr>
      <vt:lpstr>Summary </vt:lpstr>
      <vt:lpstr>Any Questions?</vt:lpstr>
      <vt:lpstr>Our Revenue Model : </vt:lpstr>
      <vt:lpstr>References for Functions and features : </vt:lpstr>
      <vt:lpstr>Testing Time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Janit</dc:creator>
  <cp:lastModifiedBy>Janit Jindal</cp:lastModifiedBy>
  <cp:revision>411</cp:revision>
  <dcterms:created xsi:type="dcterms:W3CDTF">2024-03-27T00:51:32Z</dcterms:created>
  <dcterms:modified xsi:type="dcterms:W3CDTF">2024-04-16T15:28:56Z</dcterms:modified>
</cp:coreProperties>
</file>